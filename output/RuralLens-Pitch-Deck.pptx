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56060272f546b4" /><Relationship Type="http://schemas.openxmlformats.org/officeDocument/2006/relationships/extended-properties" Target="/docProps/app.xml" Id="R90984dce5ad04d2c" /><Relationship Type="http://schemas.openxmlformats.org/officeDocument/2006/relationships/officeDocument" Target="/ppt/presentation.xml" Id="R4a2a6dc67a1d47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73ad53e7a94c02"/>
  </p:sldMasterIdLst>
  <p:notesMasterIdLst>
    <p:notesMasterId xmlns:r="http://schemas.openxmlformats.org/officeDocument/2006/relationships" r:id="R45ad02f39f074cf1"/>
  </p:notesMasterIdLst>
  <p:sldIdLst>
    <p:sldId xmlns:r="http://schemas.openxmlformats.org/officeDocument/2006/relationships" id="256" r:id="R29dd46895a0e4482"/>
    <p:sldId xmlns:r="http://schemas.openxmlformats.org/officeDocument/2006/relationships" id="257" r:id="R54c7d3e83e214855"/>
    <p:sldId xmlns:r="http://schemas.openxmlformats.org/officeDocument/2006/relationships" id="258" r:id="R8131222cf6364928"/>
    <p:sldId xmlns:r="http://schemas.openxmlformats.org/officeDocument/2006/relationships" id="259" r:id="Rda395fef37814e0c"/>
    <p:sldId xmlns:r="http://schemas.openxmlformats.org/officeDocument/2006/relationships" id="260" r:id="R1be088316302484f"/>
    <p:sldId xmlns:r="http://schemas.openxmlformats.org/officeDocument/2006/relationships" id="261" r:id="Re3fb7da0e4f9437e"/>
    <p:sldId xmlns:r="http://schemas.openxmlformats.org/officeDocument/2006/relationships" id="262" r:id="R9b27da17be6a4a0f"/>
    <p:sldId xmlns:r="http://schemas.openxmlformats.org/officeDocument/2006/relationships" id="263" r:id="R58bbeed9e25942b7"/>
    <p:sldId xmlns:r="http://schemas.openxmlformats.org/officeDocument/2006/relationships" id="264" r:id="Rb159444eb1f34a49"/>
    <p:sldId xmlns:r="http://schemas.openxmlformats.org/officeDocument/2006/relationships" id="265" r:id="R527c3c5251ba46e2"/>
    <p:sldId xmlns:r="http://schemas.openxmlformats.org/officeDocument/2006/relationships" id="266" r:id="R20d6428223394c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a0ddea6ee646ae" /><Relationship Type="http://schemas.openxmlformats.org/officeDocument/2006/relationships/slideMaster" Target="/ppt/slideMasters/slideMaster1.xml" Id="R7973ad53e7a94c02" /><Relationship Type="http://schemas.openxmlformats.org/officeDocument/2006/relationships/notesMaster" Target="/ppt/notesMasters/notesMaster1.xml" Id="R45ad02f39f074cf1" /><Relationship Type="http://schemas.openxmlformats.org/officeDocument/2006/relationships/presProps" Target="/ppt/presProps.xml" Id="Ra9359567962243ff" /><Relationship Type="http://schemas.openxmlformats.org/officeDocument/2006/relationships/tableStyles" Target="/ppt/tableStyles.xml" Id="Rba8484aa47634bb6" /><Relationship Type="http://schemas.openxmlformats.org/officeDocument/2006/relationships/slide" Target="/ppt/slides/slide1.xml" Id="R29dd46895a0e4482" /><Relationship Type="http://schemas.openxmlformats.org/officeDocument/2006/relationships/slide" Target="/ppt/slides/slide2.xml" Id="R54c7d3e83e214855" /><Relationship Type="http://schemas.openxmlformats.org/officeDocument/2006/relationships/slide" Target="/ppt/slides/slide3.xml" Id="R8131222cf6364928" /><Relationship Type="http://schemas.openxmlformats.org/officeDocument/2006/relationships/slide" Target="/ppt/slides/slide4.xml" Id="Rda395fef37814e0c" /><Relationship Type="http://schemas.openxmlformats.org/officeDocument/2006/relationships/slide" Target="/ppt/slides/slide5.xml" Id="R1be088316302484f" /><Relationship Type="http://schemas.openxmlformats.org/officeDocument/2006/relationships/slide" Target="/ppt/slides/slide6.xml" Id="Re3fb7da0e4f9437e" /><Relationship Type="http://schemas.openxmlformats.org/officeDocument/2006/relationships/slide" Target="/ppt/slides/slide7.xml" Id="R9b27da17be6a4a0f" /><Relationship Type="http://schemas.openxmlformats.org/officeDocument/2006/relationships/slide" Target="/ppt/slides/slide8.xml" Id="R58bbeed9e25942b7" /><Relationship Type="http://schemas.openxmlformats.org/officeDocument/2006/relationships/slide" Target="/ppt/slides/slide9.xml" Id="Rb159444eb1f34a49" /><Relationship Type="http://schemas.openxmlformats.org/officeDocument/2006/relationships/slide" Target="/ppt/slides/slide10.xml" Id="R527c3c5251ba46e2" /><Relationship Type="http://schemas.openxmlformats.org/officeDocument/2006/relationships/slide" Target="/ppt/slides/slide11.xml" Id="R20d6428223394c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dd3de4a5ea4a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cb126864164dbd" /><Relationship Type="http://schemas.openxmlformats.org/officeDocument/2006/relationships/notesMaster" Target="/ppt/notesMasters/notesMaster1.xml" Id="Rb353b4037a5945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413a7103324835" /><Relationship Type="http://schemas.openxmlformats.org/officeDocument/2006/relationships/notesMaster" Target="/ppt/notesMasters/notesMaster1.xml" Id="R662ab287aee14a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9e6feada9e4cd9" /><Relationship Type="http://schemas.openxmlformats.org/officeDocument/2006/relationships/notesMaster" Target="/ppt/notesMasters/notesMaster1.xml" Id="R1364337b9ad147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e4b79151144043" /><Relationship Type="http://schemas.openxmlformats.org/officeDocument/2006/relationships/notesMaster" Target="/ppt/notesMasters/notesMaster1.xml" Id="R89d36b1ebbf44e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251b3ae3b446c1" /><Relationship Type="http://schemas.openxmlformats.org/officeDocument/2006/relationships/notesMaster" Target="/ppt/notesMasters/notesMaster1.xml" Id="Rd4dc762eee1044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d19a26edba4ddb" /><Relationship Type="http://schemas.openxmlformats.org/officeDocument/2006/relationships/notesMaster" Target="/ppt/notesMasters/notesMaster1.xml" Id="Rb3800534d20f47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3335525eb44b6d" /><Relationship Type="http://schemas.openxmlformats.org/officeDocument/2006/relationships/notesMaster" Target="/ppt/notesMasters/notesMaster1.xml" Id="Raae7ee0f20cc4c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f65446e3664771" /><Relationship Type="http://schemas.openxmlformats.org/officeDocument/2006/relationships/notesMaster" Target="/ppt/notesMasters/notesMaster1.xml" Id="R1a14fd0e574b45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664480d1a642e3" /><Relationship Type="http://schemas.openxmlformats.org/officeDocument/2006/relationships/notesMaster" Target="/ppt/notesMasters/notesMaster1.xml" Id="R412952f00de846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3b037ea19248f9" /><Relationship Type="http://schemas.openxmlformats.org/officeDocument/2006/relationships/notesMaster" Target="/ppt/notesMasters/notesMaster1.xml" Id="Raf928a59de3346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6b0d2d9ace4b82" /><Relationship Type="http://schemas.openxmlformats.org/officeDocument/2006/relationships/notesMaster" Target="/ppt/notesMasters/notesMaster1.xml" Id="R45ebbc79b3af45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RuralLens is a decision-support prototype built for Exathon. This deck makes a product and pilot case. It does not claim customer traction, validated credit performance or live production integrations.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sources: /Users/Dhuna/RuralLens/README.md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problem statement comes directly from the user and project README. Treat the operational implications as the product thesis, not measured customer research.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sources: /Users/Dhuna/RuralLens/README.md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Desired outcome supplied by the user: see portfolio performance, emerging risks and intervention progress at a glance, then direct the right teams without digging into individual accounts. This is an intended outcome, not a demonstrated time saving.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sources: /Users/Dhuna/RuralLens/README.md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contains Command center, Portfolio, Risk alerts, Investigation, Scenario simulation and Interventions. This sequence describes the existing navigation and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sources: /Users/Dhuna/RuralLens/README.md; frontend/index.html; backend/analysis.mjs; backend/interventions.mjs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backend/domain.mjs scoreFeatures combines repayment 25%, cashflow 20%, receivables 20%, business 15%, concentration 10% and transaction anomaly 10%. Risk tiers: Low &lt;30, Moderate &lt;60, High &lt;80, Critical &gt;=80. These are prototype heuristics, not validated probabilities. Reports use deterministic local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sources: /Users/Dhuna/RuralLens/backend/domain.mjs; backend/analysis.mjs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example calculated by importing createDataset() from backend/domain.mjs with defaults seed=42, borrowers=10000, months=36 on 26 October 2026. BRW-DEMO-001 has over60Ratio=.72, revenueGrowth=-.0243799837 and score=70.8. This is an illustrative generated borrower, not an actual customer.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sources: /Users/Dhuna/RuralLens/backend/domain.mjs; docs/DEMO.md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with simulate(createDataset().records[0]) using default 75% collection. Score changes 70.8 to 44.1. The engine also derives cash-flow and receivable feature changes. Simulation does not post payments or alter balances, asset classifications, provisions or recovery records.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sources: /Users/Dhuna/RuralLens/backend/domain.mjs simulate(); backend/analysis.mjs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Operational teams: Business, Credit, Risk, Collection, Recovery, Legal and Operations. Teams see their own interventions, CXO sees all. Allocation happens once. Member completion closes the task immediately, without separate CXO approval. Turnaround uses whole elapsed days.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sources: /Users/Dhuna/RuralLens/README.md; backend/interventions.mjs; backend/teams.mjs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README is the main current-status source. docs/DEMO.md and portions of ARCHITECTURE.md contain older limitations about provisioning. The newer implementation in backend/provisioning.mjs, backend/portfolio-store.mjs and backend/recovery.mjs and docs/PROVISIONING_RECOVERY.md supports synthetic provisioning/recovery. No live Exasol validation or LLM connection is claimed. Regulatory calculations remain institution-review items.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sources: /Users/Dhuna/RuralLens/README.md; docs/ARCHITECTURE.md; docs/PROVISIONING_RECOVERY.md; backend/analysis.mjs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a proposed next step, not a committed pilot. No savings or credit-loss reduction has been measured. Use a baseline and institution-agreed targets. Data access, mappings, risk rules and operating ownership must be agreed before live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sources: /Users/Dhuna/RuralLens/README.md; docs/EXASOL.md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design partnership ask based on current project readiness. No funding amount, business model, team credentials, customer logos or traction claims were supplied, so this deck does not invent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sources: /Users/Dhuna/RuralLens/README.md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842d2f0dc24ca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c9a91961634a7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219d4090dd444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147acc6a6742c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6801cf566943d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14d4d413924f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27AE9B-8AB5-42BD-943E-CE217E5B55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2B36AC1-BDF9-4B64-83C1-127CCEE8F13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E3FE3BF-86FB-4795-AD5E-7E6F673617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BC8611-7395-474E-87CE-3949CDA310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AF41F40-C0E2-436C-94DE-2A5153355F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79424BA-66F2-4739-92E5-01D077B2AC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D5D908-4E11-4128-8A17-0CECF2FD83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7FAB737-91E4-4497-8139-6C028758167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F4121C-9A31-4616-8515-7E7F44A029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971B9B-4528-4214-906A-4CB430C417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2319c0263c463e" /><Relationship Type="http://schemas.openxmlformats.org/officeDocument/2006/relationships/slideLayout" Target="/ppt/slideLayouts/slideLayout1.xml" Id="Ra35f37186313458c" /><Relationship Type="http://schemas.openxmlformats.org/officeDocument/2006/relationships/slideLayout" Target="/ppt/slideLayouts/slideLayout2.xml" Id="R012fb5d9f3e5462c" /><Relationship Type="http://schemas.openxmlformats.org/officeDocument/2006/relationships/slideLayout" Target="/ppt/slideLayouts/slideLayout3.xml" Id="R43b3cf28fa204c56" /><Relationship Type="http://schemas.openxmlformats.org/officeDocument/2006/relationships/slideLayout" Target="/ppt/slideLayouts/slideLayout4.xml" Id="R7ca1da7c2e384d98" /><Relationship Type="http://schemas.openxmlformats.org/officeDocument/2006/relationships/slideLayout" Target="/ppt/slideLayouts/slideLayout5.xml" Id="R86763c11b07f485d" /><Relationship Type="http://schemas.openxmlformats.org/officeDocument/2006/relationships/slideLayout" Target="/ppt/slideLayouts/slideLayout6.xml" Id="Rac6beab0cfb744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5f37186313458c"/>
    <p:sldLayoutId xmlns:r="http://schemas.openxmlformats.org/officeDocument/2006/relationships" id="2147483650" r:id="R012fb5d9f3e5462c"/>
    <p:sldLayoutId xmlns:r="http://schemas.openxmlformats.org/officeDocument/2006/relationships" id="2147483651" r:id="R43b3cf28fa204c56"/>
    <p:sldLayoutId xmlns:r="http://schemas.openxmlformats.org/officeDocument/2006/relationships" id="2147483652" r:id="R7ca1da7c2e384d98"/>
    <p:sldLayoutId xmlns:r="http://schemas.openxmlformats.org/officeDocument/2006/relationships" id="2147483653" r:id="R86763c11b07f485d"/>
    <p:sldLayoutId xmlns:r="http://schemas.openxmlformats.org/officeDocument/2006/relationships" id="2147483654" r:id="Rac6beab0cfb744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8432191dbe433c" /><Relationship Type="http://schemas.openxmlformats.org/officeDocument/2006/relationships/notesSlide" Target="/ppt/notesSlides/notesSlide1.xml" Id="R0948848d99624c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d0285062ec48d3" /><Relationship Type="http://schemas.openxmlformats.org/officeDocument/2006/relationships/notesSlide" Target="/ppt/notesSlides/notesSlide2.xml" Id="Rf5ed284b51a649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be2478799b4ef4" /><Relationship Type="http://schemas.openxmlformats.org/officeDocument/2006/relationships/notesSlide" Target="/ppt/notesSlides/notesSlide3.xml" Id="R4697e96e800c41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4c8bc6fe2d4924" /><Relationship Type="http://schemas.openxmlformats.org/officeDocument/2006/relationships/notesSlide" Target="/ppt/notesSlides/notesSlide4.xml" Id="R8d4aa51058ae49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4b56908f0e40ed" /><Relationship Type="http://schemas.openxmlformats.org/officeDocument/2006/relationships/notesSlide" Target="/ppt/notesSlides/notesSlide5.xml" Id="R651f671cf7234a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b4039b7bf340c2" /><Relationship Type="http://schemas.openxmlformats.org/officeDocument/2006/relationships/notesSlide" Target="/ppt/notesSlides/notesSlide6.xml" Id="R9e2dfed8155444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94cfe26058421b" /><Relationship Type="http://schemas.openxmlformats.org/officeDocument/2006/relationships/notesSlide" Target="/ppt/notesSlides/notesSlide7.xml" Id="R9efeda685f9242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5f2e291f014c8a" /><Relationship Type="http://schemas.openxmlformats.org/officeDocument/2006/relationships/notesSlide" Target="/ppt/notesSlides/notesSlide8.xml" Id="R4282b25dcde04b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dfd7125ef048a3" /><Relationship Type="http://schemas.openxmlformats.org/officeDocument/2006/relationships/notesSlide" Target="/ppt/notesSlides/notesSlide9.xml" Id="R025aa7821b6449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3fd67c086941c2" /><Relationship Type="http://schemas.openxmlformats.org/officeDocument/2006/relationships/notesSlide" Target="/ppt/notesSlides/notesSlide10.xml" Id="R40f2fb454ceb4d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028a4390ff42b8" /><Relationship Type="http://schemas.openxmlformats.org/officeDocument/2006/relationships/notesSlide" Target="/ppt/notesSlides/notesSlide11.xml" Id="R0455c412b22f4b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E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D5BEA-7D53-40EB-8309-856EF1FF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B8D86A"/>
                </a:solidFill>
              </a:defRPr>
            </a:defPPr>
            <a:lvl1pPr>
              <a:defRPr sz="1425" b="1">
                <a:solidFill>
                  <a:srgbClr val="B8D86A"/>
                </a:solidFill>
              </a:defRPr>
            </a:lvl1pPr>
            <a:lvl2pPr>
              <a:defRPr sz="1425" b="1">
                <a:solidFill>
                  <a:srgbClr val="B8D86A"/>
                </a:solidFill>
              </a:defRPr>
            </a:lvl2pPr>
            <a:lvl3pPr>
              <a:defRPr sz="1425" b="1">
                <a:solidFill>
                  <a:srgbClr val="B8D86A"/>
                </a:solidFill>
              </a:defRPr>
            </a:lvl3pPr>
            <a:lvl4pPr>
              <a:defRPr sz="1425" b="1">
                <a:solidFill>
                  <a:srgbClr val="B8D86A"/>
                </a:solidFill>
              </a:defRPr>
            </a:lvl4pPr>
            <a:lvl5pPr>
              <a:defRPr sz="1425" b="1">
                <a:solidFill>
                  <a:srgbClr val="B8D86A"/>
                </a:solidFill>
              </a:defRPr>
            </a:lvl5pPr>
            <a:lvl6pPr>
              <a:defRPr sz="1425" b="1">
                <a:solidFill>
                  <a:srgbClr val="B8D86A"/>
                </a:solidFill>
              </a:defRPr>
            </a:lvl6pPr>
            <a:lvl7pPr>
              <a:defRPr sz="1425" b="1">
                <a:solidFill>
                  <a:srgbClr val="B8D86A"/>
                </a:solidFill>
              </a:defRPr>
            </a:lvl7pPr>
            <a:lvl8pPr>
              <a:defRPr sz="1425" b="1">
                <a:solidFill>
                  <a:srgbClr val="B8D86A"/>
                </a:solidFill>
              </a:defRPr>
            </a:lvl8pPr>
            <a:lvl9pPr>
              <a:defRPr sz="1425" b="1">
                <a:solidFill>
                  <a:srgbClr val="B8D86A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B8D86A"/>
                </a:solidFill>
              </a:defRPr>
            </a:pPr>
            <a:r>
              <a:rPr sz="1425" b="1">
                <a:solidFill>
                  <a:srgbClr val="B8D86A"/>
                </a:solidFill>
              </a:rPr>
              <a:t>RuralLens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12971-4080-461F-85C8-43AFBF5E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8D86A"/>
                </a:solidFill>
              </a:defRPr>
            </a:defPPr>
            <a:lvl1pPr>
              <a:defRPr sz="1125" b="0">
                <a:solidFill>
                  <a:srgbClr val="B8D86A"/>
                </a:solidFill>
              </a:defRPr>
            </a:lvl1pPr>
            <a:lvl2pPr>
              <a:defRPr sz="1125" b="0">
                <a:solidFill>
                  <a:srgbClr val="B8D86A"/>
                </a:solidFill>
              </a:defRPr>
            </a:lvl2pPr>
            <a:lvl3pPr>
              <a:defRPr sz="1125" b="0">
                <a:solidFill>
                  <a:srgbClr val="B8D86A"/>
                </a:solidFill>
              </a:defRPr>
            </a:lvl3pPr>
            <a:lvl4pPr>
              <a:defRPr sz="1125" b="0">
                <a:solidFill>
                  <a:srgbClr val="B8D86A"/>
                </a:solidFill>
              </a:defRPr>
            </a:lvl4pPr>
            <a:lvl5pPr>
              <a:defRPr sz="1125" b="0">
                <a:solidFill>
                  <a:srgbClr val="B8D86A"/>
                </a:solidFill>
              </a:defRPr>
            </a:lvl5pPr>
            <a:lvl6pPr>
              <a:defRPr sz="1125" b="0">
                <a:solidFill>
                  <a:srgbClr val="B8D86A"/>
                </a:solidFill>
              </a:defRPr>
            </a:lvl6pPr>
            <a:lvl7pPr>
              <a:defRPr sz="1125" b="0">
                <a:solidFill>
                  <a:srgbClr val="B8D86A"/>
                </a:solidFill>
              </a:defRPr>
            </a:lvl7pPr>
            <a:lvl8pPr>
              <a:defRPr sz="1125" b="0">
                <a:solidFill>
                  <a:srgbClr val="B8D86A"/>
                </a:solidFill>
              </a:defRPr>
            </a:lvl8pPr>
            <a:lvl9pPr>
              <a:defRPr sz="1125" b="0">
                <a:solidFill>
                  <a:srgbClr val="B8D86A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8D86A"/>
                </a:solidFill>
              </a:defRPr>
            </a:pPr>
            <a:r>
              <a:rPr sz="1125" b="0">
                <a:solidFill>
                  <a:srgbClr val="B8D86A"/>
                </a:solidFill>
              </a:rPr>
              <a:t>PRODUCT PITCH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0E598-DB61-4BBE-BACD-8106E5E7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  <a:lvl1pPr>
              <a:defRPr sz="3450" b="1">
                <a:solidFill>
                  <a:srgbClr val="FFFFFF"/>
                </a:solidFill>
              </a:defRPr>
            </a:lvl1pPr>
            <a:lvl2pPr>
              <a:defRPr sz="3450" b="1">
                <a:solidFill>
                  <a:srgbClr val="FFFFFF"/>
                </a:solidFill>
              </a:defRPr>
            </a:lvl2pPr>
            <a:lvl3pPr>
              <a:defRPr sz="3450" b="1">
                <a:solidFill>
                  <a:srgbClr val="FFFFFF"/>
                </a:solidFill>
              </a:defRPr>
            </a:lvl3pPr>
            <a:lvl4pPr>
              <a:defRPr sz="3450" b="1">
                <a:solidFill>
                  <a:srgbClr val="FFFFFF"/>
                </a:solidFill>
              </a:defRPr>
            </a:lvl4pPr>
            <a:lvl5pPr>
              <a:defRPr sz="3450" b="1">
                <a:solidFill>
                  <a:srgbClr val="FFFFFF"/>
                </a:solidFill>
              </a:defRPr>
            </a:lvl5pPr>
            <a:lvl6pPr>
              <a:defRPr sz="3450" b="1">
                <a:solidFill>
                  <a:srgbClr val="FFFFFF"/>
                </a:solidFill>
              </a:defRPr>
            </a:lvl6pPr>
            <a:lvl7pPr>
              <a:defRPr sz="3450" b="1">
                <a:solidFill>
                  <a:srgbClr val="FFFFFF"/>
                </a:solidFill>
              </a:defRPr>
            </a:lvl7pPr>
            <a:lvl8pPr>
              <a:defRPr sz="3450" b="1">
                <a:solidFill>
                  <a:srgbClr val="FFFFFF"/>
                </a:solidFill>
              </a:defRPr>
            </a:lvl8pPr>
            <a:lvl9pPr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Portfolio clarity for CXOs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E4BE2-D3C1-4094-8C11-F6AC7F4E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8D86A"/>
                </a:solidFill>
              </a:defRPr>
            </a:defPPr>
            <a:lvl1pPr>
              <a:defRPr sz="1125" b="0">
                <a:solidFill>
                  <a:srgbClr val="B8D86A"/>
                </a:solidFill>
              </a:defRPr>
            </a:lvl1pPr>
            <a:lvl2pPr>
              <a:defRPr sz="1125" b="0">
                <a:solidFill>
                  <a:srgbClr val="B8D86A"/>
                </a:solidFill>
              </a:defRPr>
            </a:lvl2pPr>
            <a:lvl3pPr>
              <a:defRPr sz="1125" b="0">
                <a:solidFill>
                  <a:srgbClr val="B8D86A"/>
                </a:solidFill>
              </a:defRPr>
            </a:lvl3pPr>
            <a:lvl4pPr>
              <a:defRPr sz="1125" b="0">
                <a:solidFill>
                  <a:srgbClr val="B8D86A"/>
                </a:solidFill>
              </a:defRPr>
            </a:lvl4pPr>
            <a:lvl5pPr>
              <a:defRPr sz="1125" b="0">
                <a:solidFill>
                  <a:srgbClr val="B8D86A"/>
                </a:solidFill>
              </a:defRPr>
            </a:lvl5pPr>
            <a:lvl6pPr>
              <a:defRPr sz="1125" b="0">
                <a:solidFill>
                  <a:srgbClr val="B8D86A"/>
                </a:solidFill>
              </a:defRPr>
            </a:lvl6pPr>
            <a:lvl7pPr>
              <a:defRPr sz="1125" b="0">
                <a:solidFill>
                  <a:srgbClr val="B8D86A"/>
                </a:solidFill>
              </a:defRPr>
            </a:lvl7pPr>
            <a:lvl8pPr>
              <a:defRPr sz="1125" b="0">
                <a:solidFill>
                  <a:srgbClr val="B8D86A"/>
                </a:solidFill>
              </a:defRPr>
            </a:lvl8pPr>
            <a:lvl9pPr>
              <a:defRPr sz="1125" b="0">
                <a:solidFill>
                  <a:srgbClr val="B8D86A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8D86A"/>
                </a:solidFill>
              </a:defRPr>
            </a:pPr>
            <a:r>
              <a:rPr sz="1125" b="0">
                <a:solidFill>
                  <a:srgbClr val="B8D86A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8CBEC-1EBF-404D-A45C-F442A157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900" b="1">
                <a:solidFill>
                  <a:srgbClr val="FFFFFF"/>
                </a:solidFill>
              </a:defRPr>
            </a:defPPr>
            <a:lvl1pPr>
              <a:defRPr sz="6900" b="1">
                <a:solidFill>
                  <a:srgbClr val="FFFFFF"/>
                </a:solidFill>
              </a:defRPr>
            </a:lvl1pPr>
            <a:lvl2pPr>
              <a:defRPr sz="6900" b="1">
                <a:solidFill>
                  <a:srgbClr val="FFFFFF"/>
                </a:solidFill>
              </a:defRPr>
            </a:lvl2pPr>
            <a:lvl3pPr>
              <a:defRPr sz="6900" b="1">
                <a:solidFill>
                  <a:srgbClr val="FFFFFF"/>
                </a:solidFill>
              </a:defRPr>
            </a:lvl3pPr>
            <a:lvl4pPr>
              <a:defRPr sz="6900" b="1">
                <a:solidFill>
                  <a:srgbClr val="FFFFFF"/>
                </a:solidFill>
              </a:defRPr>
            </a:lvl4pPr>
            <a:lvl5pPr>
              <a:defRPr sz="6900" b="1">
                <a:solidFill>
                  <a:srgbClr val="FFFFFF"/>
                </a:solidFill>
              </a:defRPr>
            </a:lvl5pPr>
            <a:lvl6pPr>
              <a:defRPr sz="6900" b="1">
                <a:solidFill>
                  <a:srgbClr val="FFFFFF"/>
                </a:solidFill>
              </a:defRPr>
            </a:lvl6pPr>
            <a:lvl7pPr>
              <a:defRPr sz="6900" b="1">
                <a:solidFill>
                  <a:srgbClr val="FFFFFF"/>
                </a:solidFill>
              </a:defRPr>
            </a:lvl7pPr>
            <a:lvl8pPr>
              <a:defRPr sz="6900" b="1">
                <a:solidFill>
                  <a:srgbClr val="FFFFFF"/>
                </a:solidFill>
              </a:defRPr>
            </a:lvl8pPr>
            <a:lvl9pPr>
              <a:defRPr sz="6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6900" b="1">
                <a:solidFill>
                  <a:srgbClr val="FFFFFF"/>
                </a:solidFill>
              </a:defRPr>
            </a:pPr>
            <a:r>
              <a:rPr sz="6900" b="1">
                <a:solidFill>
                  <a:srgbClr val="FFFFFF"/>
                </a:solidFill>
              </a:rPr>
              <a:t>RuralLens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33B6F-9B7E-4599-A927-9F311E8B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B8D86A"/>
                </a:solidFill>
              </a:defRPr>
            </a:defPPr>
            <a:lvl1pPr>
              <a:defRPr sz="2550" b="0">
                <a:solidFill>
                  <a:srgbClr val="B8D86A"/>
                </a:solidFill>
              </a:defRPr>
            </a:lvl1pPr>
            <a:lvl2pPr>
              <a:defRPr sz="2550" b="0">
                <a:solidFill>
                  <a:srgbClr val="B8D86A"/>
                </a:solidFill>
              </a:defRPr>
            </a:lvl2pPr>
            <a:lvl3pPr>
              <a:defRPr sz="2550" b="0">
                <a:solidFill>
                  <a:srgbClr val="B8D86A"/>
                </a:solidFill>
              </a:defRPr>
            </a:lvl3pPr>
            <a:lvl4pPr>
              <a:defRPr sz="2550" b="0">
                <a:solidFill>
                  <a:srgbClr val="B8D86A"/>
                </a:solidFill>
              </a:defRPr>
            </a:lvl4pPr>
            <a:lvl5pPr>
              <a:defRPr sz="2550" b="0">
                <a:solidFill>
                  <a:srgbClr val="B8D86A"/>
                </a:solidFill>
              </a:defRPr>
            </a:lvl5pPr>
            <a:lvl6pPr>
              <a:defRPr sz="2550" b="0">
                <a:solidFill>
                  <a:srgbClr val="B8D86A"/>
                </a:solidFill>
              </a:defRPr>
            </a:lvl6pPr>
            <a:lvl7pPr>
              <a:defRPr sz="2550" b="0">
                <a:solidFill>
                  <a:srgbClr val="B8D86A"/>
                </a:solidFill>
              </a:defRPr>
            </a:lvl7pPr>
            <a:lvl8pPr>
              <a:defRPr sz="2550" b="0">
                <a:solidFill>
                  <a:srgbClr val="B8D86A"/>
                </a:solidFill>
              </a:defRPr>
            </a:lvl8pPr>
            <a:lvl9pPr>
              <a:defRPr sz="2550" b="0">
                <a:solidFill>
                  <a:srgbClr val="B8D86A"/>
                </a:solidFill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B8D86A"/>
                </a:solidFill>
              </a:defRPr>
            </a:pPr>
            <a:r>
              <a:rPr sz="2550" b="0">
                <a:solidFill>
                  <a:srgbClr val="B8D86A"/>
                </a:solidFill>
              </a:rPr>
              <a:t>A clear view of rural lending risk.</a:t>
            </a:r>
          </a:p>
          <a:p xmlns:a="http://schemas.openxmlformats.org/drawingml/2006/main">
            <a:pPr>
              <a:defRPr sz="2550" b="0">
                <a:solidFill>
                  <a:srgbClr val="B8D86A"/>
                </a:solidFill>
              </a:defRPr>
            </a:pPr>
            <a:r>
              <a:rPr sz="2550" b="0">
                <a:solidFill>
                  <a:srgbClr val="B8D86A"/>
                </a:solidFill>
              </a:rPr>
              <a:t>Accountable follow-up across teams.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8AD23-EE5A-43B4-8574-88A226F7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FFFFF"/>
                </a:solidFill>
              </a:defRPr>
            </a:defPPr>
            <a:lvl1pPr>
              <a:defRPr sz="1575" b="0">
                <a:solidFill>
                  <a:srgbClr val="FFFFFF"/>
                </a:solidFill>
              </a:defRPr>
            </a:lvl1pPr>
            <a:lvl2pPr>
              <a:defRPr sz="1575" b="0">
                <a:solidFill>
                  <a:srgbClr val="FFFFFF"/>
                </a:solidFill>
              </a:defRPr>
            </a:lvl2pPr>
            <a:lvl3pPr>
              <a:defRPr sz="1575" b="0">
                <a:solidFill>
                  <a:srgbClr val="FFFFFF"/>
                </a:solidFill>
              </a:defRPr>
            </a:lvl3pPr>
            <a:lvl4pPr>
              <a:defRPr sz="1575" b="0">
                <a:solidFill>
                  <a:srgbClr val="FFFFFF"/>
                </a:solidFill>
              </a:defRPr>
            </a:lvl4pPr>
            <a:lvl5pPr>
              <a:defRPr sz="1575" b="0">
                <a:solidFill>
                  <a:srgbClr val="FFFFFF"/>
                </a:solidFill>
              </a:defRPr>
            </a:lvl5pPr>
            <a:lvl6pPr>
              <a:defRPr sz="1575" b="0">
                <a:solidFill>
                  <a:srgbClr val="FFFFFF"/>
                </a:solidFill>
              </a:defRPr>
            </a:lvl6pPr>
            <a:lvl7pPr>
              <a:defRPr sz="1575" b="0">
                <a:solidFill>
                  <a:srgbClr val="FFFFFF"/>
                </a:solidFill>
              </a:defRPr>
            </a:lvl7pPr>
            <a:lvl8pPr>
              <a:defRPr sz="1575" b="0">
                <a:solidFill>
                  <a:srgbClr val="FFFFFF"/>
                </a:solidFill>
              </a:defRPr>
            </a:lvl8pPr>
            <a:lvl9pPr>
              <a:defRPr sz="15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Working prototype with synthetic data</a:t>
            </a:r>
          </a:p>
        </p:txBody>
      </p:sp>
    </p:spTree>
    <p:extLst>
      <p:ext uri="{BB962C8B-B14F-4D97-AF65-F5344CB8AC3E}">
        <p14:creationId xmlns:p14="http://schemas.microsoft.com/office/powerpoint/2010/main" val="148684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F9CFE-F202-4372-835B-4D2C074C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E35"/>
                </a:solidFill>
              </a:defRPr>
            </a:defPPr>
            <a:lvl1pPr>
              <a:defRPr sz="3450" b="1">
                <a:solidFill>
                  <a:srgbClr val="173E35"/>
                </a:solidFill>
              </a:defRPr>
            </a:lvl1pPr>
            <a:lvl2pPr>
              <a:defRPr sz="3450" b="1">
                <a:solidFill>
                  <a:srgbClr val="173E35"/>
                </a:solidFill>
              </a:defRPr>
            </a:lvl2pPr>
            <a:lvl3pPr>
              <a:defRPr sz="3450" b="1">
                <a:solidFill>
                  <a:srgbClr val="173E35"/>
                </a:solidFill>
              </a:defRPr>
            </a:lvl3pPr>
            <a:lvl4pPr>
              <a:defRPr sz="3450" b="1">
                <a:solidFill>
                  <a:srgbClr val="173E35"/>
                </a:solidFill>
              </a:defRPr>
            </a:lvl4pPr>
            <a:lvl5pPr>
              <a:defRPr sz="3450" b="1">
                <a:solidFill>
                  <a:srgbClr val="173E35"/>
                </a:solidFill>
              </a:defRPr>
            </a:lvl5pPr>
            <a:lvl6pPr>
              <a:defRPr sz="3450" b="1">
                <a:solidFill>
                  <a:srgbClr val="173E35"/>
                </a:solidFill>
              </a:defRPr>
            </a:lvl6pPr>
            <a:lvl7pPr>
              <a:defRPr sz="3450" b="1">
                <a:solidFill>
                  <a:srgbClr val="173E35"/>
                </a:solidFill>
              </a:defRPr>
            </a:lvl7pPr>
            <a:lvl8pPr>
              <a:defRPr sz="3450" b="1">
                <a:solidFill>
                  <a:srgbClr val="173E35"/>
                </a:solidFill>
              </a:defRPr>
            </a:lvl8pPr>
            <a:lvl9pPr>
              <a:defRPr sz="3450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E35"/>
                </a:solidFill>
              </a:defRPr>
            </a:pPr>
            <a:r>
              <a:rPr sz="3450" b="1">
                <a:solidFill>
                  <a:srgbClr val="173E35"/>
                </a:solidFill>
              </a:rPr>
              <a:t>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9626C-C3B3-49D9-A049-781424AD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E35"/>
                </a:solidFill>
              </a:defRPr>
            </a:defPPr>
            <a:lvl1pPr>
              <a:defRPr sz="2550" b="0">
                <a:solidFill>
                  <a:srgbClr val="173E35"/>
                </a:solidFill>
              </a:defRPr>
            </a:lvl1pPr>
            <a:lvl2pPr>
              <a:defRPr sz="2550" b="0">
                <a:solidFill>
                  <a:srgbClr val="173E35"/>
                </a:solidFill>
              </a:defRPr>
            </a:lvl2pPr>
            <a:lvl3pPr>
              <a:defRPr sz="2550" b="0">
                <a:solidFill>
                  <a:srgbClr val="173E35"/>
                </a:solidFill>
              </a:defRPr>
            </a:lvl3pPr>
            <a:lvl4pPr>
              <a:defRPr sz="2550" b="0">
                <a:solidFill>
                  <a:srgbClr val="173E35"/>
                </a:solidFill>
              </a:defRPr>
            </a:lvl4pPr>
            <a:lvl5pPr>
              <a:defRPr sz="2550" b="0">
                <a:solidFill>
                  <a:srgbClr val="173E35"/>
                </a:solidFill>
              </a:defRPr>
            </a:lvl5pPr>
            <a:lvl6pPr>
              <a:defRPr sz="2550" b="0">
                <a:solidFill>
                  <a:srgbClr val="173E35"/>
                </a:solidFill>
              </a:defRPr>
            </a:lvl6pPr>
            <a:lvl7pPr>
              <a:defRPr sz="2550" b="0">
                <a:solidFill>
                  <a:srgbClr val="173E35"/>
                </a:solidFill>
              </a:defRPr>
            </a:lvl7pPr>
            <a:lvl8pPr>
              <a:defRPr sz="2550" b="0">
                <a:solidFill>
                  <a:srgbClr val="173E35"/>
                </a:solidFill>
              </a:defRPr>
            </a:lvl8pPr>
            <a:lvl9pPr>
              <a:defRPr sz="2550" b="0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73E35"/>
                </a:solidFill>
              </a:defRPr>
            </a:pPr>
            <a:r>
              <a:rPr sz="2550" b="0">
                <a:solidFill>
                  <a:srgbClr val="173E35"/>
                </a:solidFill>
              </a:rPr>
              <a:t>CXOs at rural lending institutions can’t get a clear, timely view of portfolio health because today’s approach relies on fragmented reports and detailed account-level reviews to reveal risks and pending actions.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55084-108E-410A-B636-5A4D56DF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73E35"/>
                </a:solidFill>
              </a:defRPr>
            </a:defPPr>
            <a:lvl1pPr>
              <a:defRPr sz="2400" b="0">
                <a:solidFill>
                  <a:srgbClr val="173E35"/>
                </a:solidFill>
              </a:defRPr>
            </a:lvl1pPr>
            <a:lvl2pPr>
              <a:defRPr sz="2400" b="0">
                <a:solidFill>
                  <a:srgbClr val="173E35"/>
                </a:solidFill>
              </a:defRPr>
            </a:lvl2pPr>
            <a:lvl3pPr>
              <a:defRPr sz="2400" b="0">
                <a:solidFill>
                  <a:srgbClr val="173E35"/>
                </a:solidFill>
              </a:defRPr>
            </a:lvl3pPr>
            <a:lvl4pPr>
              <a:defRPr sz="2400" b="0">
                <a:solidFill>
                  <a:srgbClr val="173E35"/>
                </a:solidFill>
              </a:defRPr>
            </a:lvl4pPr>
            <a:lvl5pPr>
              <a:defRPr sz="2400" b="0">
                <a:solidFill>
                  <a:srgbClr val="173E35"/>
                </a:solidFill>
              </a:defRPr>
            </a:lvl5pPr>
            <a:lvl6pPr>
              <a:defRPr sz="2400" b="0">
                <a:solidFill>
                  <a:srgbClr val="173E35"/>
                </a:solidFill>
              </a:defRPr>
            </a:lvl6pPr>
            <a:lvl7pPr>
              <a:defRPr sz="2400" b="0">
                <a:solidFill>
                  <a:srgbClr val="173E35"/>
                </a:solidFill>
              </a:defRPr>
            </a:lvl7pPr>
            <a:lvl8pPr>
              <a:defRPr sz="2400" b="0">
                <a:solidFill>
                  <a:srgbClr val="173E35"/>
                </a:solidFill>
              </a:defRPr>
            </a:lvl8pPr>
            <a:lvl9pPr>
              <a:defRPr sz="2400" b="0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73E35"/>
                </a:solidFill>
              </a:defRPr>
            </a:pPr>
            <a:r>
              <a:rPr sz="2400" b="0">
                <a:solidFill>
                  <a:srgbClr val="173E35"/>
                </a:solidFill>
              </a:rPr>
              <a:t>If this worked, they could see portfolio performance, emerging risks, and intervention progress at a glance, then direct the right teams without digging into individual accounts.</a:t>
            </a:r>
          </a:p>
        </p:txBody>
      </p:sp>
    </p:spTree>
    <p:extLst>
      <p:ext uri="{BB962C8B-B14F-4D97-AF65-F5344CB8AC3E}">
        <p14:creationId xmlns:p14="http://schemas.microsoft.com/office/powerpoint/2010/main" val="3957226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3E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BAF44-BA38-444D-BE2A-992610DF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B8D86A"/>
                </a:solidFill>
              </a:defRPr>
            </a:defPPr>
            <a:lvl1pPr>
              <a:defRPr sz="1425" b="1">
                <a:solidFill>
                  <a:srgbClr val="B8D86A"/>
                </a:solidFill>
              </a:defRPr>
            </a:lvl1pPr>
            <a:lvl2pPr>
              <a:defRPr sz="1425" b="1">
                <a:solidFill>
                  <a:srgbClr val="B8D86A"/>
                </a:solidFill>
              </a:defRPr>
            </a:lvl2pPr>
            <a:lvl3pPr>
              <a:defRPr sz="1425" b="1">
                <a:solidFill>
                  <a:srgbClr val="B8D86A"/>
                </a:solidFill>
              </a:defRPr>
            </a:lvl3pPr>
            <a:lvl4pPr>
              <a:defRPr sz="1425" b="1">
                <a:solidFill>
                  <a:srgbClr val="B8D86A"/>
                </a:solidFill>
              </a:defRPr>
            </a:lvl4pPr>
            <a:lvl5pPr>
              <a:defRPr sz="1425" b="1">
                <a:solidFill>
                  <a:srgbClr val="B8D86A"/>
                </a:solidFill>
              </a:defRPr>
            </a:lvl5pPr>
            <a:lvl6pPr>
              <a:defRPr sz="1425" b="1">
                <a:solidFill>
                  <a:srgbClr val="B8D86A"/>
                </a:solidFill>
              </a:defRPr>
            </a:lvl6pPr>
            <a:lvl7pPr>
              <a:defRPr sz="1425" b="1">
                <a:solidFill>
                  <a:srgbClr val="B8D86A"/>
                </a:solidFill>
              </a:defRPr>
            </a:lvl7pPr>
            <a:lvl8pPr>
              <a:defRPr sz="1425" b="1">
                <a:solidFill>
                  <a:srgbClr val="B8D86A"/>
                </a:solidFill>
              </a:defRPr>
            </a:lvl8pPr>
            <a:lvl9pPr>
              <a:defRPr sz="1425" b="1">
                <a:solidFill>
                  <a:srgbClr val="B8D86A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B8D86A"/>
                </a:solidFill>
              </a:defRPr>
            </a:pPr>
            <a:r>
              <a:rPr sz="1425" b="1">
                <a:solidFill>
                  <a:srgbClr val="B8D86A"/>
                </a:solidFill>
              </a:rPr>
              <a:t>RuralLens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793F0-94BD-4AC5-9FA9-C2D9117E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8D86A"/>
                </a:solidFill>
              </a:defRPr>
            </a:defPPr>
            <a:lvl1pPr>
              <a:defRPr sz="1125" b="0">
                <a:solidFill>
                  <a:srgbClr val="B8D86A"/>
                </a:solidFill>
              </a:defRPr>
            </a:lvl1pPr>
            <a:lvl2pPr>
              <a:defRPr sz="1125" b="0">
                <a:solidFill>
                  <a:srgbClr val="B8D86A"/>
                </a:solidFill>
              </a:defRPr>
            </a:lvl2pPr>
            <a:lvl3pPr>
              <a:defRPr sz="1125" b="0">
                <a:solidFill>
                  <a:srgbClr val="B8D86A"/>
                </a:solidFill>
              </a:defRPr>
            </a:lvl3pPr>
            <a:lvl4pPr>
              <a:defRPr sz="1125" b="0">
                <a:solidFill>
                  <a:srgbClr val="B8D86A"/>
                </a:solidFill>
              </a:defRPr>
            </a:lvl4pPr>
            <a:lvl5pPr>
              <a:defRPr sz="1125" b="0">
                <a:solidFill>
                  <a:srgbClr val="B8D86A"/>
                </a:solidFill>
              </a:defRPr>
            </a:lvl5pPr>
            <a:lvl6pPr>
              <a:defRPr sz="1125" b="0">
                <a:solidFill>
                  <a:srgbClr val="B8D86A"/>
                </a:solidFill>
              </a:defRPr>
            </a:lvl6pPr>
            <a:lvl7pPr>
              <a:defRPr sz="1125" b="0">
                <a:solidFill>
                  <a:srgbClr val="B8D86A"/>
                </a:solidFill>
              </a:defRPr>
            </a:lvl7pPr>
            <a:lvl8pPr>
              <a:defRPr sz="1125" b="0">
                <a:solidFill>
                  <a:srgbClr val="B8D86A"/>
                </a:solidFill>
              </a:defRPr>
            </a:lvl8pPr>
            <a:lvl9pPr>
              <a:defRPr sz="1125" b="0">
                <a:solidFill>
                  <a:srgbClr val="B8D86A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8D86A"/>
                </a:solidFill>
              </a:defRPr>
            </a:pPr>
            <a:r>
              <a:rPr sz="1125" b="0">
                <a:solidFill>
                  <a:srgbClr val="B8D86A"/>
                </a:solidFill>
              </a:rPr>
              <a:t>DESIRED OUTCOME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D0FB4-DA35-4350-90C6-DC5B674C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  <a:lvl1pPr>
              <a:defRPr sz="3450" b="1">
                <a:solidFill>
                  <a:srgbClr val="FFFFFF"/>
                </a:solidFill>
              </a:defRPr>
            </a:lvl1pPr>
            <a:lvl2pPr>
              <a:defRPr sz="3450" b="1">
                <a:solidFill>
                  <a:srgbClr val="FFFFFF"/>
                </a:solidFill>
              </a:defRPr>
            </a:lvl2pPr>
            <a:lvl3pPr>
              <a:defRPr sz="3450" b="1">
                <a:solidFill>
                  <a:srgbClr val="FFFFFF"/>
                </a:solidFill>
              </a:defRPr>
            </a:lvl3pPr>
            <a:lvl4pPr>
              <a:defRPr sz="3450" b="1">
                <a:solidFill>
                  <a:srgbClr val="FFFFFF"/>
                </a:solidFill>
              </a:defRPr>
            </a:lvl4pPr>
            <a:lvl5pPr>
              <a:defRPr sz="3450" b="1">
                <a:solidFill>
                  <a:srgbClr val="FFFFFF"/>
                </a:solidFill>
              </a:defRPr>
            </a:lvl5pPr>
            <a:lvl6pPr>
              <a:defRPr sz="3450" b="1">
                <a:solidFill>
                  <a:srgbClr val="FFFFFF"/>
                </a:solidFill>
              </a:defRPr>
            </a:lvl6pPr>
            <a:lvl7pPr>
              <a:defRPr sz="3450" b="1">
                <a:solidFill>
                  <a:srgbClr val="FFFFFF"/>
                </a:solidFill>
              </a:defRPr>
            </a:lvl7pPr>
            <a:lvl8pPr>
              <a:defRPr sz="3450" b="1">
                <a:solidFill>
                  <a:srgbClr val="FFFFFF"/>
                </a:solidFill>
              </a:defRPr>
            </a:lvl8pPr>
            <a:lvl9pPr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The executive view RuralLens aims to provide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A2B8C-89E8-407F-870D-ADFC05EC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8D86A"/>
                </a:solidFill>
              </a:defRPr>
            </a:defPPr>
            <a:lvl1pPr>
              <a:defRPr sz="1125" b="0">
                <a:solidFill>
                  <a:srgbClr val="B8D86A"/>
                </a:solidFill>
              </a:defRPr>
            </a:lvl1pPr>
            <a:lvl2pPr>
              <a:defRPr sz="1125" b="0">
                <a:solidFill>
                  <a:srgbClr val="B8D86A"/>
                </a:solidFill>
              </a:defRPr>
            </a:lvl2pPr>
            <a:lvl3pPr>
              <a:defRPr sz="1125" b="0">
                <a:solidFill>
                  <a:srgbClr val="B8D86A"/>
                </a:solidFill>
              </a:defRPr>
            </a:lvl3pPr>
            <a:lvl4pPr>
              <a:defRPr sz="1125" b="0">
                <a:solidFill>
                  <a:srgbClr val="B8D86A"/>
                </a:solidFill>
              </a:defRPr>
            </a:lvl4pPr>
            <a:lvl5pPr>
              <a:defRPr sz="1125" b="0">
                <a:solidFill>
                  <a:srgbClr val="B8D86A"/>
                </a:solidFill>
              </a:defRPr>
            </a:lvl5pPr>
            <a:lvl6pPr>
              <a:defRPr sz="1125" b="0">
                <a:solidFill>
                  <a:srgbClr val="B8D86A"/>
                </a:solidFill>
              </a:defRPr>
            </a:lvl6pPr>
            <a:lvl7pPr>
              <a:defRPr sz="1125" b="0">
                <a:solidFill>
                  <a:srgbClr val="B8D86A"/>
                </a:solidFill>
              </a:defRPr>
            </a:lvl7pPr>
            <a:lvl8pPr>
              <a:defRPr sz="1125" b="0">
                <a:solidFill>
                  <a:srgbClr val="B8D86A"/>
                </a:solidFill>
              </a:defRPr>
            </a:lvl8pPr>
            <a:lvl9pPr>
              <a:defRPr sz="1125" b="0">
                <a:solidFill>
                  <a:srgbClr val="B8D86A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8D86A"/>
                </a:solidFill>
              </a:defRPr>
            </a:pPr>
            <a:r>
              <a:rPr sz="1125" b="0">
                <a:solidFill>
                  <a:srgbClr val="B8D86A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D9F79-D88B-4171-835F-B257C9DA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0">
                <a:solidFill>
                  <a:srgbClr val="FFFFFF"/>
                </a:solidFill>
              </a:defRPr>
            </a:defPPr>
            <a:lvl1pPr>
              <a:defRPr sz="2925" b="0">
                <a:solidFill>
                  <a:srgbClr val="FFFFFF"/>
                </a:solidFill>
              </a:defRPr>
            </a:lvl1pPr>
            <a:lvl2pPr>
              <a:defRPr sz="2925" b="0">
                <a:solidFill>
                  <a:srgbClr val="FFFFFF"/>
                </a:solidFill>
              </a:defRPr>
            </a:lvl2pPr>
            <a:lvl3pPr>
              <a:defRPr sz="2925" b="0">
                <a:solidFill>
                  <a:srgbClr val="FFFFFF"/>
                </a:solidFill>
              </a:defRPr>
            </a:lvl3pPr>
            <a:lvl4pPr>
              <a:defRPr sz="2925" b="0">
                <a:solidFill>
                  <a:srgbClr val="FFFFFF"/>
                </a:solidFill>
              </a:defRPr>
            </a:lvl4pPr>
            <a:lvl5pPr>
              <a:defRPr sz="2925" b="0">
                <a:solidFill>
                  <a:srgbClr val="FFFFFF"/>
                </a:solidFill>
              </a:defRPr>
            </a:lvl5pPr>
            <a:lvl6pPr>
              <a:defRPr sz="2925" b="0">
                <a:solidFill>
                  <a:srgbClr val="FFFFFF"/>
                </a:solidFill>
              </a:defRPr>
            </a:lvl6pPr>
            <a:lvl7pPr>
              <a:defRPr sz="2925" b="0">
                <a:solidFill>
                  <a:srgbClr val="FFFFFF"/>
                </a:solidFill>
              </a:defRPr>
            </a:lvl7pPr>
            <a:lvl8pPr>
              <a:defRPr sz="2925" b="0">
                <a:solidFill>
                  <a:srgbClr val="FFFFFF"/>
                </a:solidFill>
              </a:defRPr>
            </a:lvl8pPr>
            <a:lvl9pPr>
              <a:defRPr sz="29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FFFFFF"/>
                </a:solidFill>
              </a:defRPr>
            </a:pPr>
            <a:r>
              <a:rPr sz="2925" b="0">
                <a:solidFill>
                  <a:srgbClr val="FFFFFF"/>
                </a:solidFill>
              </a:rPr>
              <a:t>How is the portfolio performing?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AD4D9D-601A-49F7-B146-B87896FB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0">
                <a:solidFill>
                  <a:srgbClr val="FFFFFF"/>
                </a:solidFill>
              </a:defRPr>
            </a:defPPr>
            <a:lvl1pPr>
              <a:defRPr sz="2925" b="0">
                <a:solidFill>
                  <a:srgbClr val="FFFFFF"/>
                </a:solidFill>
              </a:defRPr>
            </a:lvl1pPr>
            <a:lvl2pPr>
              <a:defRPr sz="2925" b="0">
                <a:solidFill>
                  <a:srgbClr val="FFFFFF"/>
                </a:solidFill>
              </a:defRPr>
            </a:lvl2pPr>
            <a:lvl3pPr>
              <a:defRPr sz="2925" b="0">
                <a:solidFill>
                  <a:srgbClr val="FFFFFF"/>
                </a:solidFill>
              </a:defRPr>
            </a:lvl3pPr>
            <a:lvl4pPr>
              <a:defRPr sz="2925" b="0">
                <a:solidFill>
                  <a:srgbClr val="FFFFFF"/>
                </a:solidFill>
              </a:defRPr>
            </a:lvl4pPr>
            <a:lvl5pPr>
              <a:defRPr sz="2925" b="0">
                <a:solidFill>
                  <a:srgbClr val="FFFFFF"/>
                </a:solidFill>
              </a:defRPr>
            </a:lvl5pPr>
            <a:lvl6pPr>
              <a:defRPr sz="2925" b="0">
                <a:solidFill>
                  <a:srgbClr val="FFFFFF"/>
                </a:solidFill>
              </a:defRPr>
            </a:lvl6pPr>
            <a:lvl7pPr>
              <a:defRPr sz="2925" b="0">
                <a:solidFill>
                  <a:srgbClr val="FFFFFF"/>
                </a:solidFill>
              </a:defRPr>
            </a:lvl7pPr>
            <a:lvl8pPr>
              <a:defRPr sz="2925" b="0">
                <a:solidFill>
                  <a:srgbClr val="FFFFFF"/>
                </a:solidFill>
              </a:defRPr>
            </a:lvl8pPr>
            <a:lvl9pPr>
              <a:defRPr sz="29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FFFFFF"/>
                </a:solidFill>
              </a:defRPr>
            </a:pPr>
            <a:r>
              <a:rPr sz="2925" b="0">
                <a:solidFill>
                  <a:srgbClr val="FFFFFF"/>
                </a:solidFill>
              </a:rPr>
              <a:t>Where is risk emerging?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CAF922-7DAA-4D30-A8A2-208806E7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0">
                <a:solidFill>
                  <a:srgbClr val="FFFFFF"/>
                </a:solidFill>
              </a:defRPr>
            </a:defPPr>
            <a:lvl1pPr>
              <a:defRPr sz="2925" b="0">
                <a:solidFill>
                  <a:srgbClr val="FFFFFF"/>
                </a:solidFill>
              </a:defRPr>
            </a:lvl1pPr>
            <a:lvl2pPr>
              <a:defRPr sz="2925" b="0">
                <a:solidFill>
                  <a:srgbClr val="FFFFFF"/>
                </a:solidFill>
              </a:defRPr>
            </a:lvl2pPr>
            <a:lvl3pPr>
              <a:defRPr sz="2925" b="0">
                <a:solidFill>
                  <a:srgbClr val="FFFFFF"/>
                </a:solidFill>
              </a:defRPr>
            </a:lvl3pPr>
            <a:lvl4pPr>
              <a:defRPr sz="2925" b="0">
                <a:solidFill>
                  <a:srgbClr val="FFFFFF"/>
                </a:solidFill>
              </a:defRPr>
            </a:lvl4pPr>
            <a:lvl5pPr>
              <a:defRPr sz="2925" b="0">
                <a:solidFill>
                  <a:srgbClr val="FFFFFF"/>
                </a:solidFill>
              </a:defRPr>
            </a:lvl5pPr>
            <a:lvl6pPr>
              <a:defRPr sz="2925" b="0">
                <a:solidFill>
                  <a:srgbClr val="FFFFFF"/>
                </a:solidFill>
              </a:defRPr>
            </a:lvl6pPr>
            <a:lvl7pPr>
              <a:defRPr sz="2925" b="0">
                <a:solidFill>
                  <a:srgbClr val="FFFFFF"/>
                </a:solidFill>
              </a:defRPr>
            </a:lvl7pPr>
            <a:lvl8pPr>
              <a:defRPr sz="2925" b="0">
                <a:solidFill>
                  <a:srgbClr val="FFFFFF"/>
                </a:solidFill>
              </a:defRPr>
            </a:lvl8pPr>
            <a:lvl9pPr>
              <a:defRPr sz="29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FFFFFF"/>
                </a:solidFill>
              </a:defRPr>
            </a:pPr>
            <a:r>
              <a:rPr sz="2925" b="0">
                <a:solidFill>
                  <a:srgbClr val="FFFFFF"/>
                </a:solidFill>
              </a:rPr>
              <a:t>Are the right teams taking action?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D66DB-3F5B-4E61-ABB2-78D3DBAE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B8D86A"/>
                </a:solidFill>
              </a:defRPr>
            </a:defPPr>
            <a:lvl1pPr>
              <a:defRPr sz="2025" b="0">
                <a:solidFill>
                  <a:srgbClr val="B8D86A"/>
                </a:solidFill>
              </a:defRPr>
            </a:lvl1pPr>
            <a:lvl2pPr>
              <a:defRPr sz="2025" b="0">
                <a:solidFill>
                  <a:srgbClr val="B8D86A"/>
                </a:solidFill>
              </a:defRPr>
            </a:lvl2pPr>
            <a:lvl3pPr>
              <a:defRPr sz="2025" b="0">
                <a:solidFill>
                  <a:srgbClr val="B8D86A"/>
                </a:solidFill>
              </a:defRPr>
            </a:lvl3pPr>
            <a:lvl4pPr>
              <a:defRPr sz="2025" b="0">
                <a:solidFill>
                  <a:srgbClr val="B8D86A"/>
                </a:solidFill>
              </a:defRPr>
            </a:lvl4pPr>
            <a:lvl5pPr>
              <a:defRPr sz="2025" b="0">
                <a:solidFill>
                  <a:srgbClr val="B8D86A"/>
                </a:solidFill>
              </a:defRPr>
            </a:lvl5pPr>
            <a:lvl6pPr>
              <a:defRPr sz="2025" b="0">
                <a:solidFill>
                  <a:srgbClr val="B8D86A"/>
                </a:solidFill>
              </a:defRPr>
            </a:lvl6pPr>
            <a:lvl7pPr>
              <a:defRPr sz="2025" b="0">
                <a:solidFill>
                  <a:srgbClr val="B8D86A"/>
                </a:solidFill>
              </a:defRPr>
            </a:lvl7pPr>
            <a:lvl8pPr>
              <a:defRPr sz="2025" b="0">
                <a:solidFill>
                  <a:srgbClr val="B8D86A"/>
                </a:solidFill>
              </a:defRPr>
            </a:lvl8pPr>
            <a:lvl9pPr>
              <a:defRPr sz="2025" b="0">
                <a:solidFill>
                  <a:srgbClr val="B8D86A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8D86A"/>
                </a:solidFill>
              </a:defRPr>
            </a:pPr>
            <a:r>
              <a:rPr sz="2025" b="0">
                <a:solidFill>
                  <a:srgbClr val="B8D86A"/>
                </a:solidFill>
              </a:rPr>
              <a:t>One review should show the priorities and the progress behind them.</a:t>
            </a:r>
          </a:p>
        </p:txBody>
      </p:sp>
    </p:spTree>
    <p:extLst>
      <p:ext uri="{BB962C8B-B14F-4D97-AF65-F5344CB8AC3E}">
        <p14:creationId xmlns:p14="http://schemas.microsoft.com/office/powerpoint/2010/main" val="4959460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8A2F1-ECD6-4C82-BB8E-033488B7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3E35"/>
                </a:solidFill>
              </a:defRPr>
            </a:defPPr>
            <a:lvl1pPr>
              <a:defRPr sz="1425" b="1">
                <a:solidFill>
                  <a:srgbClr val="173E35"/>
                </a:solidFill>
              </a:defRPr>
            </a:lvl1pPr>
            <a:lvl2pPr>
              <a:defRPr sz="1425" b="1">
                <a:solidFill>
                  <a:srgbClr val="173E35"/>
                </a:solidFill>
              </a:defRPr>
            </a:lvl2pPr>
            <a:lvl3pPr>
              <a:defRPr sz="1425" b="1">
                <a:solidFill>
                  <a:srgbClr val="173E35"/>
                </a:solidFill>
              </a:defRPr>
            </a:lvl3pPr>
            <a:lvl4pPr>
              <a:defRPr sz="1425" b="1">
                <a:solidFill>
                  <a:srgbClr val="173E35"/>
                </a:solidFill>
              </a:defRPr>
            </a:lvl4pPr>
            <a:lvl5pPr>
              <a:defRPr sz="1425" b="1">
                <a:solidFill>
                  <a:srgbClr val="173E35"/>
                </a:solidFill>
              </a:defRPr>
            </a:lvl5pPr>
            <a:lvl6pPr>
              <a:defRPr sz="1425" b="1">
                <a:solidFill>
                  <a:srgbClr val="173E35"/>
                </a:solidFill>
              </a:defRPr>
            </a:lvl6pPr>
            <a:lvl7pPr>
              <a:defRPr sz="1425" b="1">
                <a:solidFill>
                  <a:srgbClr val="173E35"/>
                </a:solidFill>
              </a:defRPr>
            </a:lvl7pPr>
            <a:lvl8pPr>
              <a:defRPr sz="1425" b="1">
                <a:solidFill>
                  <a:srgbClr val="173E35"/>
                </a:solidFill>
              </a:defRPr>
            </a:lvl8pPr>
            <a:lvl9pPr>
              <a:defRPr sz="1425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3E35"/>
                </a:solidFill>
              </a:defRPr>
            </a:pPr>
            <a:r>
              <a:rPr sz="1425" b="1">
                <a:solidFill>
                  <a:srgbClr val="173E35"/>
                </a:solidFill>
              </a:rPr>
              <a:t>RuralLens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91BA4-B45F-48D5-946B-2F35AD0C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6C64"/>
                </a:solidFill>
              </a:defRPr>
            </a:defPPr>
            <a:lvl1pPr>
              <a:defRPr sz="1125" b="0">
                <a:solidFill>
                  <a:srgbClr val="596C64"/>
                </a:solidFill>
              </a:defRPr>
            </a:lvl1pPr>
            <a:lvl2pPr>
              <a:defRPr sz="1125" b="0">
                <a:solidFill>
                  <a:srgbClr val="596C64"/>
                </a:solidFill>
              </a:defRPr>
            </a:lvl2pPr>
            <a:lvl3pPr>
              <a:defRPr sz="1125" b="0">
                <a:solidFill>
                  <a:srgbClr val="596C64"/>
                </a:solidFill>
              </a:defRPr>
            </a:lvl3pPr>
            <a:lvl4pPr>
              <a:defRPr sz="1125" b="0">
                <a:solidFill>
                  <a:srgbClr val="596C64"/>
                </a:solidFill>
              </a:defRPr>
            </a:lvl4pPr>
            <a:lvl5pPr>
              <a:defRPr sz="1125" b="0">
                <a:solidFill>
                  <a:srgbClr val="596C64"/>
                </a:solidFill>
              </a:defRPr>
            </a:lvl5pPr>
            <a:lvl6pPr>
              <a:defRPr sz="1125" b="0">
                <a:solidFill>
                  <a:srgbClr val="596C64"/>
                </a:solidFill>
              </a:defRPr>
            </a:lvl6pPr>
            <a:lvl7pPr>
              <a:defRPr sz="1125" b="0">
                <a:solidFill>
                  <a:srgbClr val="596C64"/>
                </a:solidFill>
              </a:defRPr>
            </a:lvl7pPr>
            <a:lvl8pPr>
              <a:defRPr sz="1125" b="0">
                <a:solidFill>
                  <a:srgbClr val="596C64"/>
                </a:solidFill>
              </a:defRPr>
            </a:lvl8pPr>
            <a:lvl9pPr>
              <a:defRPr sz="1125" b="0">
                <a:solidFill>
                  <a:srgbClr val="596C6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96C64"/>
                </a:solidFill>
              </a:defRPr>
            </a:pPr>
            <a:r>
              <a:rPr sz="1125" b="0">
                <a:solidFill>
                  <a:srgbClr val="596C64"/>
                </a:solidFill>
              </a:rPr>
              <a:t>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9081E-82D5-462D-95E5-5152411D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E35"/>
                </a:solidFill>
              </a:defRPr>
            </a:defPPr>
            <a:lvl1pPr>
              <a:defRPr sz="3450" b="1">
                <a:solidFill>
                  <a:srgbClr val="173E35"/>
                </a:solidFill>
              </a:defRPr>
            </a:lvl1pPr>
            <a:lvl2pPr>
              <a:defRPr sz="3450" b="1">
                <a:solidFill>
                  <a:srgbClr val="173E35"/>
                </a:solidFill>
              </a:defRPr>
            </a:lvl2pPr>
            <a:lvl3pPr>
              <a:defRPr sz="3450" b="1">
                <a:solidFill>
                  <a:srgbClr val="173E35"/>
                </a:solidFill>
              </a:defRPr>
            </a:lvl3pPr>
            <a:lvl4pPr>
              <a:defRPr sz="3450" b="1">
                <a:solidFill>
                  <a:srgbClr val="173E35"/>
                </a:solidFill>
              </a:defRPr>
            </a:lvl4pPr>
            <a:lvl5pPr>
              <a:defRPr sz="3450" b="1">
                <a:solidFill>
                  <a:srgbClr val="173E35"/>
                </a:solidFill>
              </a:defRPr>
            </a:lvl5pPr>
            <a:lvl6pPr>
              <a:defRPr sz="3450" b="1">
                <a:solidFill>
                  <a:srgbClr val="173E35"/>
                </a:solidFill>
              </a:defRPr>
            </a:lvl6pPr>
            <a:lvl7pPr>
              <a:defRPr sz="3450" b="1">
                <a:solidFill>
                  <a:srgbClr val="173E35"/>
                </a:solidFill>
              </a:defRPr>
            </a:lvl7pPr>
            <a:lvl8pPr>
              <a:defRPr sz="3450" b="1">
                <a:solidFill>
                  <a:srgbClr val="173E35"/>
                </a:solidFill>
              </a:defRPr>
            </a:lvl8pPr>
            <a:lvl9pPr>
              <a:defRPr sz="3450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E35"/>
                </a:solidFill>
              </a:defRPr>
            </a:pPr>
            <a:r>
              <a:rPr sz="3450" b="1">
                <a:solidFill>
                  <a:srgbClr val="173E35"/>
                </a:solidFill>
              </a:rPr>
              <a:t>A portfolio view with a path to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9099F-0F70-4667-BC85-D50144CA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6C64"/>
                </a:solidFill>
              </a:defRPr>
            </a:defPPr>
            <a:lvl1pPr>
              <a:defRPr sz="1125" b="0">
                <a:solidFill>
                  <a:srgbClr val="596C64"/>
                </a:solidFill>
              </a:defRPr>
            </a:lvl1pPr>
            <a:lvl2pPr>
              <a:defRPr sz="1125" b="0">
                <a:solidFill>
                  <a:srgbClr val="596C64"/>
                </a:solidFill>
              </a:defRPr>
            </a:lvl2pPr>
            <a:lvl3pPr>
              <a:defRPr sz="1125" b="0">
                <a:solidFill>
                  <a:srgbClr val="596C64"/>
                </a:solidFill>
              </a:defRPr>
            </a:lvl3pPr>
            <a:lvl4pPr>
              <a:defRPr sz="1125" b="0">
                <a:solidFill>
                  <a:srgbClr val="596C64"/>
                </a:solidFill>
              </a:defRPr>
            </a:lvl4pPr>
            <a:lvl5pPr>
              <a:defRPr sz="1125" b="0">
                <a:solidFill>
                  <a:srgbClr val="596C64"/>
                </a:solidFill>
              </a:defRPr>
            </a:lvl5pPr>
            <a:lvl6pPr>
              <a:defRPr sz="1125" b="0">
                <a:solidFill>
                  <a:srgbClr val="596C64"/>
                </a:solidFill>
              </a:defRPr>
            </a:lvl6pPr>
            <a:lvl7pPr>
              <a:defRPr sz="1125" b="0">
                <a:solidFill>
                  <a:srgbClr val="596C64"/>
                </a:solidFill>
              </a:defRPr>
            </a:lvl7pPr>
            <a:lvl8pPr>
              <a:defRPr sz="1125" b="0">
                <a:solidFill>
                  <a:srgbClr val="596C64"/>
                </a:solidFill>
              </a:defRPr>
            </a:lvl8pPr>
            <a:lvl9pPr>
              <a:defRPr sz="1125" b="0">
                <a:solidFill>
                  <a:srgbClr val="596C6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96C64"/>
                </a:solidFill>
              </a:defRPr>
            </a:pPr>
            <a:r>
              <a:rPr sz="1125" b="0">
                <a:solidFill>
                  <a:srgbClr val="596C64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84811-3883-4FB2-B8D1-F19F096C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E35"/>
                </a:solidFill>
              </a:defRPr>
            </a:defPPr>
            <a:lvl1pPr>
              <a:defRPr sz="2250" b="1">
                <a:solidFill>
                  <a:srgbClr val="173E35"/>
                </a:solidFill>
              </a:defRPr>
            </a:lvl1pPr>
            <a:lvl2pPr>
              <a:defRPr sz="2250" b="1">
                <a:solidFill>
                  <a:srgbClr val="173E35"/>
                </a:solidFill>
              </a:defRPr>
            </a:lvl2pPr>
            <a:lvl3pPr>
              <a:defRPr sz="2250" b="1">
                <a:solidFill>
                  <a:srgbClr val="173E35"/>
                </a:solidFill>
              </a:defRPr>
            </a:lvl3pPr>
            <a:lvl4pPr>
              <a:defRPr sz="2250" b="1">
                <a:solidFill>
                  <a:srgbClr val="173E35"/>
                </a:solidFill>
              </a:defRPr>
            </a:lvl4pPr>
            <a:lvl5pPr>
              <a:defRPr sz="2250" b="1">
                <a:solidFill>
                  <a:srgbClr val="173E35"/>
                </a:solidFill>
              </a:defRPr>
            </a:lvl5pPr>
            <a:lvl6pPr>
              <a:defRPr sz="2250" b="1">
                <a:solidFill>
                  <a:srgbClr val="173E35"/>
                </a:solidFill>
              </a:defRPr>
            </a:lvl6pPr>
            <a:lvl7pPr>
              <a:defRPr sz="2250" b="1">
                <a:solidFill>
                  <a:srgbClr val="173E35"/>
                </a:solidFill>
              </a:defRPr>
            </a:lvl7pPr>
            <a:lvl8pPr>
              <a:defRPr sz="2250" b="1">
                <a:solidFill>
                  <a:srgbClr val="173E35"/>
                </a:solidFill>
              </a:defRPr>
            </a:lvl8pPr>
            <a:lvl9pPr>
              <a:defRPr sz="2250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3E35"/>
                </a:solidFill>
              </a:defRPr>
            </a:pPr>
            <a:r>
              <a:rPr sz="2250" b="1">
                <a:solidFill>
                  <a:srgbClr val="173E35"/>
                </a:solidFill>
              </a:rPr>
              <a:t>01  Monitor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7BC84-56BC-4E8B-B1E1-D046F432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43175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96C64"/>
                </a:solidFill>
              </a:defRPr>
            </a:defPPr>
            <a:lvl1pPr>
              <a:defRPr sz="2100" b="0">
                <a:solidFill>
                  <a:srgbClr val="596C64"/>
                </a:solidFill>
              </a:defRPr>
            </a:lvl1pPr>
            <a:lvl2pPr>
              <a:defRPr sz="2100" b="0">
                <a:solidFill>
                  <a:srgbClr val="596C64"/>
                </a:solidFill>
              </a:defRPr>
            </a:lvl2pPr>
            <a:lvl3pPr>
              <a:defRPr sz="2100" b="0">
                <a:solidFill>
                  <a:srgbClr val="596C64"/>
                </a:solidFill>
              </a:defRPr>
            </a:lvl3pPr>
            <a:lvl4pPr>
              <a:defRPr sz="2100" b="0">
                <a:solidFill>
                  <a:srgbClr val="596C64"/>
                </a:solidFill>
              </a:defRPr>
            </a:lvl4pPr>
            <a:lvl5pPr>
              <a:defRPr sz="2100" b="0">
                <a:solidFill>
                  <a:srgbClr val="596C64"/>
                </a:solidFill>
              </a:defRPr>
            </a:lvl5pPr>
            <a:lvl6pPr>
              <a:defRPr sz="2100" b="0">
                <a:solidFill>
                  <a:srgbClr val="596C64"/>
                </a:solidFill>
              </a:defRPr>
            </a:lvl6pPr>
            <a:lvl7pPr>
              <a:defRPr sz="2100" b="0">
                <a:solidFill>
                  <a:srgbClr val="596C64"/>
                </a:solidFill>
              </a:defRPr>
            </a:lvl7pPr>
            <a:lvl8pPr>
              <a:defRPr sz="2100" b="0">
                <a:solidFill>
                  <a:srgbClr val="596C64"/>
                </a:solidFill>
              </a:defRPr>
            </a:lvl8pPr>
            <a:lvl9pPr>
              <a:defRPr sz="2100" b="0">
                <a:solidFill>
                  <a:srgbClr val="596C6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96C64"/>
                </a:solidFill>
              </a:defRPr>
            </a:pPr>
            <a:r>
              <a:rPr sz="2100" b="0">
                <a:solidFill>
                  <a:srgbClr val="596C64"/>
                </a:solidFill>
              </a:rPr>
              <a:t>Exposure, risk tiers, overdue buckets and portfolio trends.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28C10-0F2A-4131-AEA7-C4C035AE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E35"/>
                </a:solidFill>
              </a:defRPr>
            </a:defPPr>
            <a:lvl1pPr>
              <a:defRPr sz="2250" b="1">
                <a:solidFill>
                  <a:srgbClr val="173E35"/>
                </a:solidFill>
              </a:defRPr>
            </a:lvl1pPr>
            <a:lvl2pPr>
              <a:defRPr sz="2250" b="1">
                <a:solidFill>
                  <a:srgbClr val="173E35"/>
                </a:solidFill>
              </a:defRPr>
            </a:lvl2pPr>
            <a:lvl3pPr>
              <a:defRPr sz="2250" b="1">
                <a:solidFill>
                  <a:srgbClr val="173E35"/>
                </a:solidFill>
              </a:defRPr>
            </a:lvl3pPr>
            <a:lvl4pPr>
              <a:defRPr sz="2250" b="1">
                <a:solidFill>
                  <a:srgbClr val="173E35"/>
                </a:solidFill>
              </a:defRPr>
            </a:lvl4pPr>
            <a:lvl5pPr>
              <a:defRPr sz="2250" b="1">
                <a:solidFill>
                  <a:srgbClr val="173E35"/>
                </a:solidFill>
              </a:defRPr>
            </a:lvl5pPr>
            <a:lvl6pPr>
              <a:defRPr sz="2250" b="1">
                <a:solidFill>
                  <a:srgbClr val="173E35"/>
                </a:solidFill>
              </a:defRPr>
            </a:lvl6pPr>
            <a:lvl7pPr>
              <a:defRPr sz="2250" b="1">
                <a:solidFill>
                  <a:srgbClr val="173E35"/>
                </a:solidFill>
              </a:defRPr>
            </a:lvl7pPr>
            <a:lvl8pPr>
              <a:defRPr sz="2250" b="1">
                <a:solidFill>
                  <a:srgbClr val="173E35"/>
                </a:solidFill>
              </a:defRPr>
            </a:lvl8pPr>
            <a:lvl9pPr>
              <a:defRPr sz="2250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3E35"/>
                </a:solidFill>
              </a:defRPr>
            </a:pPr>
            <a:r>
              <a:rPr sz="2250" b="1">
                <a:solidFill>
                  <a:srgbClr val="173E35"/>
                </a:solidFill>
              </a:rPr>
              <a:t>02  Investigate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A7A1E-33DD-4763-9A61-791EAF4F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96C64"/>
                </a:solidFill>
              </a:defRPr>
            </a:defPPr>
            <a:lvl1pPr>
              <a:defRPr sz="2100" b="0">
                <a:solidFill>
                  <a:srgbClr val="596C64"/>
                </a:solidFill>
              </a:defRPr>
            </a:lvl1pPr>
            <a:lvl2pPr>
              <a:defRPr sz="2100" b="0">
                <a:solidFill>
                  <a:srgbClr val="596C64"/>
                </a:solidFill>
              </a:defRPr>
            </a:lvl2pPr>
            <a:lvl3pPr>
              <a:defRPr sz="2100" b="0">
                <a:solidFill>
                  <a:srgbClr val="596C64"/>
                </a:solidFill>
              </a:defRPr>
            </a:lvl3pPr>
            <a:lvl4pPr>
              <a:defRPr sz="2100" b="0">
                <a:solidFill>
                  <a:srgbClr val="596C64"/>
                </a:solidFill>
              </a:defRPr>
            </a:lvl4pPr>
            <a:lvl5pPr>
              <a:defRPr sz="2100" b="0">
                <a:solidFill>
                  <a:srgbClr val="596C64"/>
                </a:solidFill>
              </a:defRPr>
            </a:lvl5pPr>
            <a:lvl6pPr>
              <a:defRPr sz="2100" b="0">
                <a:solidFill>
                  <a:srgbClr val="596C64"/>
                </a:solidFill>
              </a:defRPr>
            </a:lvl6pPr>
            <a:lvl7pPr>
              <a:defRPr sz="2100" b="0">
                <a:solidFill>
                  <a:srgbClr val="596C64"/>
                </a:solidFill>
              </a:defRPr>
            </a:lvl7pPr>
            <a:lvl8pPr>
              <a:defRPr sz="2100" b="0">
                <a:solidFill>
                  <a:srgbClr val="596C64"/>
                </a:solidFill>
              </a:defRPr>
            </a:lvl8pPr>
            <a:lvl9pPr>
              <a:defRPr sz="2100" b="0">
                <a:solidFill>
                  <a:srgbClr val="596C6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96C64"/>
                </a:solidFill>
              </a:defRPr>
            </a:pPr>
            <a:r>
              <a:rPr sz="2100" b="0">
                <a:solidFill>
                  <a:srgbClr val="596C64"/>
                </a:solidFill>
              </a:rPr>
              <a:t>Contributing signals, supporting evidence and what-if scenarios.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F522B-D878-4B00-A8DD-2060C7DE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E35"/>
                </a:solidFill>
              </a:defRPr>
            </a:defPPr>
            <a:lvl1pPr>
              <a:defRPr sz="2250" b="1">
                <a:solidFill>
                  <a:srgbClr val="173E35"/>
                </a:solidFill>
              </a:defRPr>
            </a:lvl1pPr>
            <a:lvl2pPr>
              <a:defRPr sz="2250" b="1">
                <a:solidFill>
                  <a:srgbClr val="173E35"/>
                </a:solidFill>
              </a:defRPr>
            </a:lvl2pPr>
            <a:lvl3pPr>
              <a:defRPr sz="2250" b="1">
                <a:solidFill>
                  <a:srgbClr val="173E35"/>
                </a:solidFill>
              </a:defRPr>
            </a:lvl3pPr>
            <a:lvl4pPr>
              <a:defRPr sz="2250" b="1">
                <a:solidFill>
                  <a:srgbClr val="173E35"/>
                </a:solidFill>
              </a:defRPr>
            </a:lvl4pPr>
            <a:lvl5pPr>
              <a:defRPr sz="2250" b="1">
                <a:solidFill>
                  <a:srgbClr val="173E35"/>
                </a:solidFill>
              </a:defRPr>
            </a:lvl5pPr>
            <a:lvl6pPr>
              <a:defRPr sz="2250" b="1">
                <a:solidFill>
                  <a:srgbClr val="173E35"/>
                </a:solidFill>
              </a:defRPr>
            </a:lvl6pPr>
            <a:lvl7pPr>
              <a:defRPr sz="2250" b="1">
                <a:solidFill>
                  <a:srgbClr val="173E35"/>
                </a:solidFill>
              </a:defRPr>
            </a:lvl7pPr>
            <a:lvl8pPr>
              <a:defRPr sz="2250" b="1">
                <a:solidFill>
                  <a:srgbClr val="173E35"/>
                </a:solidFill>
              </a:defRPr>
            </a:lvl8pPr>
            <a:lvl9pPr>
              <a:defRPr sz="2250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3E35"/>
                </a:solidFill>
              </a:defRPr>
            </a:pPr>
            <a:r>
              <a:rPr sz="2250" b="1">
                <a:solidFill>
                  <a:srgbClr val="173E35"/>
                </a:solidFill>
              </a:rPr>
              <a:t>03  Intervene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5F78C-92B4-45CA-9A63-A460F8C5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33925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96C64"/>
                </a:solidFill>
              </a:defRPr>
            </a:defPPr>
            <a:lvl1pPr>
              <a:defRPr sz="2100" b="0">
                <a:solidFill>
                  <a:srgbClr val="596C64"/>
                </a:solidFill>
              </a:defRPr>
            </a:lvl1pPr>
            <a:lvl2pPr>
              <a:defRPr sz="2100" b="0">
                <a:solidFill>
                  <a:srgbClr val="596C64"/>
                </a:solidFill>
              </a:defRPr>
            </a:lvl2pPr>
            <a:lvl3pPr>
              <a:defRPr sz="2100" b="0">
                <a:solidFill>
                  <a:srgbClr val="596C64"/>
                </a:solidFill>
              </a:defRPr>
            </a:lvl3pPr>
            <a:lvl4pPr>
              <a:defRPr sz="2100" b="0">
                <a:solidFill>
                  <a:srgbClr val="596C64"/>
                </a:solidFill>
              </a:defRPr>
            </a:lvl4pPr>
            <a:lvl5pPr>
              <a:defRPr sz="2100" b="0">
                <a:solidFill>
                  <a:srgbClr val="596C64"/>
                </a:solidFill>
              </a:defRPr>
            </a:lvl5pPr>
            <a:lvl6pPr>
              <a:defRPr sz="2100" b="0">
                <a:solidFill>
                  <a:srgbClr val="596C64"/>
                </a:solidFill>
              </a:defRPr>
            </a:lvl6pPr>
            <a:lvl7pPr>
              <a:defRPr sz="2100" b="0">
                <a:solidFill>
                  <a:srgbClr val="596C64"/>
                </a:solidFill>
              </a:defRPr>
            </a:lvl7pPr>
            <a:lvl8pPr>
              <a:defRPr sz="2100" b="0">
                <a:solidFill>
                  <a:srgbClr val="596C64"/>
                </a:solidFill>
              </a:defRPr>
            </a:lvl8pPr>
            <a:lvl9pPr>
              <a:defRPr sz="2100" b="0">
                <a:solidFill>
                  <a:srgbClr val="596C6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96C64"/>
                </a:solidFill>
              </a:defRPr>
            </a:pPr>
            <a:r>
              <a:rPr sz="2100" b="0">
                <a:solidFill>
                  <a:srgbClr val="596C64"/>
                </a:solidFill>
              </a:rPr>
              <a:t>Team assignment, named ownership and completion history.</a:t>
            </a:r>
          </a:p>
        </p:txBody>
      </p:sp>
    </p:spTree>
    <p:extLst>
      <p:ext uri="{BB962C8B-B14F-4D97-AF65-F5344CB8AC3E}">
        <p14:creationId xmlns:p14="http://schemas.microsoft.com/office/powerpoint/2010/main" val="9217281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79469-0318-4F03-9C79-977BD332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3E35"/>
                </a:solidFill>
              </a:defRPr>
            </a:defPPr>
            <a:lvl1pPr>
              <a:defRPr sz="1425" b="1">
                <a:solidFill>
                  <a:srgbClr val="173E35"/>
                </a:solidFill>
              </a:defRPr>
            </a:lvl1pPr>
            <a:lvl2pPr>
              <a:defRPr sz="1425" b="1">
                <a:solidFill>
                  <a:srgbClr val="173E35"/>
                </a:solidFill>
              </a:defRPr>
            </a:lvl2pPr>
            <a:lvl3pPr>
              <a:defRPr sz="1425" b="1">
                <a:solidFill>
                  <a:srgbClr val="173E35"/>
                </a:solidFill>
              </a:defRPr>
            </a:lvl3pPr>
            <a:lvl4pPr>
              <a:defRPr sz="1425" b="1">
                <a:solidFill>
                  <a:srgbClr val="173E35"/>
                </a:solidFill>
              </a:defRPr>
            </a:lvl4pPr>
            <a:lvl5pPr>
              <a:defRPr sz="1425" b="1">
                <a:solidFill>
                  <a:srgbClr val="173E35"/>
                </a:solidFill>
              </a:defRPr>
            </a:lvl5pPr>
            <a:lvl6pPr>
              <a:defRPr sz="1425" b="1">
                <a:solidFill>
                  <a:srgbClr val="173E35"/>
                </a:solidFill>
              </a:defRPr>
            </a:lvl6pPr>
            <a:lvl7pPr>
              <a:defRPr sz="1425" b="1">
                <a:solidFill>
                  <a:srgbClr val="173E35"/>
                </a:solidFill>
              </a:defRPr>
            </a:lvl7pPr>
            <a:lvl8pPr>
              <a:defRPr sz="1425" b="1">
                <a:solidFill>
                  <a:srgbClr val="173E35"/>
                </a:solidFill>
              </a:defRPr>
            </a:lvl8pPr>
            <a:lvl9pPr>
              <a:defRPr sz="1425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3E35"/>
                </a:solidFill>
              </a:defRPr>
            </a:pPr>
            <a:r>
              <a:rPr sz="1425" b="1">
                <a:solidFill>
                  <a:srgbClr val="173E35"/>
                </a:solidFill>
              </a:rPr>
              <a:t>RuralLens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83595-4BA2-4096-AA98-5BA63EBD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6C64"/>
                </a:solidFill>
              </a:defRPr>
            </a:defPPr>
            <a:lvl1pPr>
              <a:defRPr sz="1125" b="0">
                <a:solidFill>
                  <a:srgbClr val="596C64"/>
                </a:solidFill>
              </a:defRPr>
            </a:lvl1pPr>
            <a:lvl2pPr>
              <a:defRPr sz="1125" b="0">
                <a:solidFill>
                  <a:srgbClr val="596C64"/>
                </a:solidFill>
              </a:defRPr>
            </a:lvl2pPr>
            <a:lvl3pPr>
              <a:defRPr sz="1125" b="0">
                <a:solidFill>
                  <a:srgbClr val="596C64"/>
                </a:solidFill>
              </a:defRPr>
            </a:lvl3pPr>
            <a:lvl4pPr>
              <a:defRPr sz="1125" b="0">
                <a:solidFill>
                  <a:srgbClr val="596C64"/>
                </a:solidFill>
              </a:defRPr>
            </a:lvl4pPr>
            <a:lvl5pPr>
              <a:defRPr sz="1125" b="0">
                <a:solidFill>
                  <a:srgbClr val="596C64"/>
                </a:solidFill>
              </a:defRPr>
            </a:lvl5pPr>
            <a:lvl6pPr>
              <a:defRPr sz="1125" b="0">
                <a:solidFill>
                  <a:srgbClr val="596C64"/>
                </a:solidFill>
              </a:defRPr>
            </a:lvl6pPr>
            <a:lvl7pPr>
              <a:defRPr sz="1125" b="0">
                <a:solidFill>
                  <a:srgbClr val="596C64"/>
                </a:solidFill>
              </a:defRPr>
            </a:lvl7pPr>
            <a:lvl8pPr>
              <a:defRPr sz="1125" b="0">
                <a:solidFill>
                  <a:srgbClr val="596C64"/>
                </a:solidFill>
              </a:defRPr>
            </a:lvl8pPr>
            <a:lvl9pPr>
              <a:defRPr sz="1125" b="0">
                <a:solidFill>
                  <a:srgbClr val="596C6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96C64"/>
                </a:solidFill>
              </a:defRPr>
            </a:pPr>
            <a:r>
              <a:rPr sz="1125" b="0">
                <a:solidFill>
                  <a:srgbClr val="596C64"/>
                </a:solidFill>
              </a:rPr>
              <a:t>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B07D0-9A36-48C9-8B2E-729DD9AE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E35"/>
                </a:solidFill>
              </a:defRPr>
            </a:defPPr>
            <a:lvl1pPr>
              <a:defRPr sz="3450" b="1">
                <a:solidFill>
                  <a:srgbClr val="173E35"/>
                </a:solidFill>
              </a:defRPr>
            </a:lvl1pPr>
            <a:lvl2pPr>
              <a:defRPr sz="3450" b="1">
                <a:solidFill>
                  <a:srgbClr val="173E35"/>
                </a:solidFill>
              </a:defRPr>
            </a:lvl2pPr>
            <a:lvl3pPr>
              <a:defRPr sz="3450" b="1">
                <a:solidFill>
                  <a:srgbClr val="173E35"/>
                </a:solidFill>
              </a:defRPr>
            </a:lvl3pPr>
            <a:lvl4pPr>
              <a:defRPr sz="3450" b="1">
                <a:solidFill>
                  <a:srgbClr val="173E35"/>
                </a:solidFill>
              </a:defRPr>
            </a:lvl4pPr>
            <a:lvl5pPr>
              <a:defRPr sz="3450" b="1">
                <a:solidFill>
                  <a:srgbClr val="173E35"/>
                </a:solidFill>
              </a:defRPr>
            </a:lvl5pPr>
            <a:lvl6pPr>
              <a:defRPr sz="3450" b="1">
                <a:solidFill>
                  <a:srgbClr val="173E35"/>
                </a:solidFill>
              </a:defRPr>
            </a:lvl6pPr>
            <a:lvl7pPr>
              <a:defRPr sz="3450" b="1">
                <a:solidFill>
                  <a:srgbClr val="173E35"/>
                </a:solidFill>
              </a:defRPr>
            </a:lvl7pPr>
            <a:lvl8pPr>
              <a:defRPr sz="3450" b="1">
                <a:solidFill>
                  <a:srgbClr val="173E35"/>
                </a:solidFill>
              </a:defRPr>
            </a:lvl8pPr>
            <a:lvl9pPr>
              <a:defRPr sz="3450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E35"/>
                </a:solidFill>
              </a:defRPr>
            </a:pPr>
            <a:r>
              <a:rPr sz="3450" b="1">
                <a:solidFill>
                  <a:srgbClr val="173E35"/>
                </a:solidFill>
              </a:rPr>
              <a:t>Risk signals explain what needs attention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80343-2A73-4213-8B30-F8528F53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6C64"/>
                </a:solidFill>
              </a:defRPr>
            </a:defPPr>
            <a:lvl1pPr>
              <a:defRPr sz="1125" b="0">
                <a:solidFill>
                  <a:srgbClr val="596C64"/>
                </a:solidFill>
              </a:defRPr>
            </a:lvl1pPr>
            <a:lvl2pPr>
              <a:defRPr sz="1125" b="0">
                <a:solidFill>
                  <a:srgbClr val="596C64"/>
                </a:solidFill>
              </a:defRPr>
            </a:lvl2pPr>
            <a:lvl3pPr>
              <a:defRPr sz="1125" b="0">
                <a:solidFill>
                  <a:srgbClr val="596C64"/>
                </a:solidFill>
              </a:defRPr>
            </a:lvl3pPr>
            <a:lvl4pPr>
              <a:defRPr sz="1125" b="0">
                <a:solidFill>
                  <a:srgbClr val="596C64"/>
                </a:solidFill>
              </a:defRPr>
            </a:lvl4pPr>
            <a:lvl5pPr>
              <a:defRPr sz="1125" b="0">
                <a:solidFill>
                  <a:srgbClr val="596C64"/>
                </a:solidFill>
              </a:defRPr>
            </a:lvl5pPr>
            <a:lvl6pPr>
              <a:defRPr sz="1125" b="0">
                <a:solidFill>
                  <a:srgbClr val="596C64"/>
                </a:solidFill>
              </a:defRPr>
            </a:lvl6pPr>
            <a:lvl7pPr>
              <a:defRPr sz="1125" b="0">
                <a:solidFill>
                  <a:srgbClr val="596C64"/>
                </a:solidFill>
              </a:defRPr>
            </a:lvl7pPr>
            <a:lvl8pPr>
              <a:defRPr sz="1125" b="0">
                <a:solidFill>
                  <a:srgbClr val="596C64"/>
                </a:solidFill>
              </a:defRPr>
            </a:lvl8pPr>
            <a:lvl9pPr>
              <a:defRPr sz="1125" b="0">
                <a:solidFill>
                  <a:srgbClr val="596C6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96C64"/>
                </a:solidFill>
              </a:defRPr>
            </a:pPr>
            <a:r>
              <a:rPr sz="1125" b="0">
                <a:solidFill>
                  <a:srgbClr val="596C64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21409-FBE9-482C-A163-A1065214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E35"/>
                </a:solidFill>
              </a:defRPr>
            </a:defPPr>
            <a:lvl1pPr>
              <a:defRPr sz="2250" b="1">
                <a:solidFill>
                  <a:srgbClr val="173E35"/>
                </a:solidFill>
              </a:defRPr>
            </a:lvl1pPr>
            <a:lvl2pPr>
              <a:defRPr sz="2250" b="1">
                <a:solidFill>
                  <a:srgbClr val="173E35"/>
                </a:solidFill>
              </a:defRPr>
            </a:lvl2pPr>
            <a:lvl3pPr>
              <a:defRPr sz="2250" b="1">
                <a:solidFill>
                  <a:srgbClr val="173E35"/>
                </a:solidFill>
              </a:defRPr>
            </a:lvl3pPr>
            <a:lvl4pPr>
              <a:defRPr sz="2250" b="1">
                <a:solidFill>
                  <a:srgbClr val="173E35"/>
                </a:solidFill>
              </a:defRPr>
            </a:lvl4pPr>
            <a:lvl5pPr>
              <a:defRPr sz="2250" b="1">
                <a:solidFill>
                  <a:srgbClr val="173E35"/>
                </a:solidFill>
              </a:defRPr>
            </a:lvl5pPr>
            <a:lvl6pPr>
              <a:defRPr sz="2250" b="1">
                <a:solidFill>
                  <a:srgbClr val="173E35"/>
                </a:solidFill>
              </a:defRPr>
            </a:lvl6pPr>
            <a:lvl7pPr>
              <a:defRPr sz="2250" b="1">
                <a:solidFill>
                  <a:srgbClr val="173E35"/>
                </a:solidFill>
              </a:defRPr>
            </a:lvl7pPr>
            <a:lvl8pPr>
              <a:defRPr sz="2250" b="1">
                <a:solidFill>
                  <a:srgbClr val="173E35"/>
                </a:solidFill>
              </a:defRPr>
            </a:lvl8pPr>
            <a:lvl9pPr>
              <a:defRPr sz="2250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3E35"/>
                </a:solidFill>
              </a:defRPr>
            </a:pPr>
            <a:r>
              <a:rPr sz="2250" b="1">
                <a:solidFill>
                  <a:srgbClr val="173E35"/>
                </a:solidFill>
              </a:rPr>
              <a:t>Six contributing dimensions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72816-81B9-44A6-908D-0555A5DA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5715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E35"/>
                </a:solidFill>
              </a:defRPr>
            </a:defPPr>
            <a:lvl1pPr>
              <a:defRPr sz="2100" b="0">
                <a:solidFill>
                  <a:srgbClr val="173E35"/>
                </a:solidFill>
              </a:defRPr>
            </a:lvl1pPr>
            <a:lvl2pPr>
              <a:defRPr sz="2100" b="0">
                <a:solidFill>
                  <a:srgbClr val="173E35"/>
                </a:solidFill>
              </a:defRPr>
            </a:lvl2pPr>
            <a:lvl3pPr>
              <a:defRPr sz="2100" b="0">
                <a:solidFill>
                  <a:srgbClr val="173E35"/>
                </a:solidFill>
              </a:defRPr>
            </a:lvl3pPr>
            <a:lvl4pPr>
              <a:defRPr sz="2100" b="0">
                <a:solidFill>
                  <a:srgbClr val="173E35"/>
                </a:solidFill>
              </a:defRPr>
            </a:lvl4pPr>
            <a:lvl5pPr>
              <a:defRPr sz="2100" b="0">
                <a:solidFill>
                  <a:srgbClr val="173E35"/>
                </a:solidFill>
              </a:defRPr>
            </a:lvl5pPr>
            <a:lvl6pPr>
              <a:defRPr sz="2100" b="0">
                <a:solidFill>
                  <a:srgbClr val="173E35"/>
                </a:solidFill>
              </a:defRPr>
            </a:lvl6pPr>
            <a:lvl7pPr>
              <a:defRPr sz="2100" b="0">
                <a:solidFill>
                  <a:srgbClr val="173E35"/>
                </a:solidFill>
              </a:defRPr>
            </a:lvl7pPr>
            <a:lvl8pPr>
              <a:defRPr sz="2100" b="0">
                <a:solidFill>
                  <a:srgbClr val="173E35"/>
                </a:solidFill>
              </a:defRPr>
            </a:lvl8pPr>
            <a:lvl9pPr>
              <a:defRPr sz="2100" b="0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E35"/>
                </a:solidFill>
              </a:defRPr>
            </a:pPr>
            <a:r>
              <a:rPr sz="2100" b="0">
                <a:solidFill>
                  <a:srgbClr val="173E35"/>
                </a:solidFill>
              </a:rPr>
              <a:t>Repayment history</a:t>
            </a:r>
          </a:p>
          <a:p xmlns:a="http://schemas.openxmlformats.org/drawingml/2006/main">
            <a:pPr>
              <a:defRPr sz="2100" b="0">
                <a:solidFill>
                  <a:srgbClr val="173E35"/>
                </a:solidFill>
              </a:defRPr>
            </a:pPr>
            <a:r>
              <a:rPr sz="2100" b="0">
                <a:solidFill>
                  <a:srgbClr val="173E35"/>
                </a:solidFill>
              </a:rPr>
              <a:t>Cash-flow deterioration</a:t>
            </a:r>
          </a:p>
          <a:p xmlns:a="http://schemas.openxmlformats.org/drawingml/2006/main">
            <a:pPr>
              <a:defRPr sz="2100" b="0">
                <a:solidFill>
                  <a:srgbClr val="173E35"/>
                </a:solidFill>
              </a:defRPr>
            </a:pPr>
            <a:r>
              <a:rPr sz="2100" b="0">
                <a:solidFill>
                  <a:srgbClr val="173E35"/>
                </a:solidFill>
              </a:rPr>
              <a:t>Receivable ageing</a:t>
            </a:r>
          </a:p>
          <a:p xmlns:a="http://schemas.openxmlformats.org/drawingml/2006/main">
            <a:pPr>
              <a:defRPr sz="2100" b="0">
                <a:solidFill>
                  <a:srgbClr val="173E35"/>
                </a:solidFill>
              </a:defRPr>
            </a:pPr>
            <a:r>
              <a:rPr sz="2100" b="0">
                <a:solidFill>
                  <a:srgbClr val="173E35"/>
                </a:solidFill>
              </a:rPr>
              <a:t>Business performance</a:t>
            </a:r>
          </a:p>
          <a:p xmlns:a="http://schemas.openxmlformats.org/drawingml/2006/main">
            <a:pPr>
              <a:defRPr sz="2100" b="0">
                <a:solidFill>
                  <a:srgbClr val="173E35"/>
                </a:solidFill>
              </a:defRPr>
            </a:pPr>
            <a:r>
              <a:rPr sz="2100" b="0">
                <a:solidFill>
                  <a:srgbClr val="173E35"/>
                </a:solidFill>
              </a:rPr>
              <a:t>Buyer concentration</a:t>
            </a:r>
          </a:p>
          <a:p xmlns:a="http://schemas.openxmlformats.org/drawingml/2006/main">
            <a:pPr>
              <a:defRPr sz="2100" b="0">
                <a:solidFill>
                  <a:srgbClr val="173E35"/>
                </a:solidFill>
              </a:defRPr>
            </a:pPr>
            <a:r>
              <a:rPr sz="2100" b="0">
                <a:solidFill>
                  <a:srgbClr val="173E35"/>
                </a:solidFill>
              </a:rPr>
              <a:t>Transaction pattern changes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07EF7-8D72-4BAB-B00F-860F59ED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0"/>
            <a:ext cx="4572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E35"/>
                </a:solidFill>
              </a:defRPr>
            </a:defPPr>
            <a:lvl1pPr>
              <a:defRPr sz="2550" b="1">
                <a:solidFill>
                  <a:srgbClr val="173E35"/>
                </a:solidFill>
              </a:defRPr>
            </a:lvl1pPr>
            <a:lvl2pPr>
              <a:defRPr sz="2550" b="1">
                <a:solidFill>
                  <a:srgbClr val="173E35"/>
                </a:solidFill>
              </a:defRPr>
            </a:lvl2pPr>
            <a:lvl3pPr>
              <a:defRPr sz="2550" b="1">
                <a:solidFill>
                  <a:srgbClr val="173E35"/>
                </a:solidFill>
              </a:defRPr>
            </a:lvl3pPr>
            <a:lvl4pPr>
              <a:defRPr sz="2550" b="1">
                <a:solidFill>
                  <a:srgbClr val="173E35"/>
                </a:solidFill>
              </a:defRPr>
            </a:lvl4pPr>
            <a:lvl5pPr>
              <a:defRPr sz="2550" b="1">
                <a:solidFill>
                  <a:srgbClr val="173E35"/>
                </a:solidFill>
              </a:defRPr>
            </a:lvl5pPr>
            <a:lvl6pPr>
              <a:defRPr sz="2550" b="1">
                <a:solidFill>
                  <a:srgbClr val="173E35"/>
                </a:solidFill>
              </a:defRPr>
            </a:lvl6pPr>
            <a:lvl7pPr>
              <a:defRPr sz="2550" b="1">
                <a:solidFill>
                  <a:srgbClr val="173E35"/>
                </a:solidFill>
              </a:defRPr>
            </a:lvl7pPr>
            <a:lvl8pPr>
              <a:defRPr sz="2550" b="1">
                <a:solidFill>
                  <a:srgbClr val="173E35"/>
                </a:solidFill>
              </a:defRPr>
            </a:lvl8pPr>
            <a:lvl9pPr>
              <a:defRPr sz="2550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E35"/>
                </a:solidFill>
              </a:defRPr>
            </a:pPr>
            <a:r>
              <a:rPr sz="2550" b="1">
                <a:solidFill>
                  <a:srgbClr val="173E35"/>
                </a:solidFill>
              </a:rPr>
              <a:t>A weighted score sets the risk tier.</a:t>
            </a:r>
          </a:p>
          <a:p xmlns:a="http://schemas.openxmlformats.org/drawingml/2006/main">
            <a:pPr>
              <a:defRPr sz="2550" b="1">
                <a:solidFill>
                  <a:srgbClr val="173E35"/>
                </a:solidFill>
              </a:defRPr>
            </a:pPr>
            <a:r>
              <a:rPr sz="2550" b="1">
                <a:solidFill>
                  <a:srgbClr val="173E35"/>
                </a:solidFill>
              </a:rPr>
              <a:t>Evidence helps teams review the cause.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1CB53-06A4-443D-B526-418BB553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96C64"/>
                </a:solidFill>
              </a:defRPr>
            </a:defPPr>
            <a:lvl1pPr>
              <a:defRPr sz="1875" b="0">
                <a:solidFill>
                  <a:srgbClr val="596C64"/>
                </a:solidFill>
              </a:defRPr>
            </a:lvl1pPr>
            <a:lvl2pPr>
              <a:defRPr sz="1875" b="0">
                <a:solidFill>
                  <a:srgbClr val="596C64"/>
                </a:solidFill>
              </a:defRPr>
            </a:lvl2pPr>
            <a:lvl3pPr>
              <a:defRPr sz="1875" b="0">
                <a:solidFill>
                  <a:srgbClr val="596C64"/>
                </a:solidFill>
              </a:defRPr>
            </a:lvl3pPr>
            <a:lvl4pPr>
              <a:defRPr sz="1875" b="0">
                <a:solidFill>
                  <a:srgbClr val="596C64"/>
                </a:solidFill>
              </a:defRPr>
            </a:lvl4pPr>
            <a:lvl5pPr>
              <a:defRPr sz="1875" b="0">
                <a:solidFill>
                  <a:srgbClr val="596C64"/>
                </a:solidFill>
              </a:defRPr>
            </a:lvl5pPr>
            <a:lvl6pPr>
              <a:defRPr sz="1875" b="0">
                <a:solidFill>
                  <a:srgbClr val="596C64"/>
                </a:solidFill>
              </a:defRPr>
            </a:lvl6pPr>
            <a:lvl7pPr>
              <a:defRPr sz="1875" b="0">
                <a:solidFill>
                  <a:srgbClr val="596C64"/>
                </a:solidFill>
              </a:defRPr>
            </a:lvl7pPr>
            <a:lvl8pPr>
              <a:defRPr sz="1875" b="0">
                <a:solidFill>
                  <a:srgbClr val="596C64"/>
                </a:solidFill>
              </a:defRPr>
            </a:lvl8pPr>
            <a:lvl9pPr>
              <a:defRPr sz="1875" b="0">
                <a:solidFill>
                  <a:srgbClr val="596C64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6C64"/>
                </a:solidFill>
              </a:defRPr>
            </a:pPr>
            <a:r>
              <a:rPr sz="1875" b="0">
                <a:solidFill>
                  <a:srgbClr val="596C64"/>
                </a:solidFill>
              </a:rPr>
              <a:t>Demo heuristics require institution validation before live use.</a:t>
            </a:r>
          </a:p>
        </p:txBody>
      </p:sp>
    </p:spTree>
    <p:extLst>
      <p:ext uri="{BB962C8B-B14F-4D97-AF65-F5344CB8AC3E}">
        <p14:creationId xmlns:p14="http://schemas.microsoft.com/office/powerpoint/2010/main" val="7084961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96BA6-FDE8-42CD-A8A5-C66A233F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3E35"/>
                </a:solidFill>
              </a:defRPr>
            </a:defPPr>
            <a:lvl1pPr>
              <a:defRPr sz="1425" b="1">
                <a:solidFill>
                  <a:srgbClr val="173E35"/>
                </a:solidFill>
              </a:defRPr>
            </a:lvl1pPr>
            <a:lvl2pPr>
              <a:defRPr sz="1425" b="1">
                <a:solidFill>
                  <a:srgbClr val="173E35"/>
                </a:solidFill>
              </a:defRPr>
            </a:lvl2pPr>
            <a:lvl3pPr>
              <a:defRPr sz="1425" b="1">
                <a:solidFill>
                  <a:srgbClr val="173E35"/>
                </a:solidFill>
              </a:defRPr>
            </a:lvl3pPr>
            <a:lvl4pPr>
              <a:defRPr sz="1425" b="1">
                <a:solidFill>
                  <a:srgbClr val="173E35"/>
                </a:solidFill>
              </a:defRPr>
            </a:lvl4pPr>
            <a:lvl5pPr>
              <a:defRPr sz="1425" b="1">
                <a:solidFill>
                  <a:srgbClr val="173E35"/>
                </a:solidFill>
              </a:defRPr>
            </a:lvl5pPr>
            <a:lvl6pPr>
              <a:defRPr sz="1425" b="1">
                <a:solidFill>
                  <a:srgbClr val="173E35"/>
                </a:solidFill>
              </a:defRPr>
            </a:lvl6pPr>
            <a:lvl7pPr>
              <a:defRPr sz="1425" b="1">
                <a:solidFill>
                  <a:srgbClr val="173E35"/>
                </a:solidFill>
              </a:defRPr>
            </a:lvl7pPr>
            <a:lvl8pPr>
              <a:defRPr sz="1425" b="1">
                <a:solidFill>
                  <a:srgbClr val="173E35"/>
                </a:solidFill>
              </a:defRPr>
            </a:lvl8pPr>
            <a:lvl9pPr>
              <a:defRPr sz="1425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3E35"/>
                </a:solidFill>
              </a:defRPr>
            </a:pPr>
            <a:r>
              <a:rPr sz="1425" b="1">
                <a:solidFill>
                  <a:srgbClr val="173E35"/>
                </a:solidFill>
              </a:rPr>
              <a:t>RuralLens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E3BE4-AA4F-408F-BE2D-E05828FD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6C64"/>
                </a:solidFill>
              </a:defRPr>
            </a:defPPr>
            <a:lvl1pPr>
              <a:defRPr sz="1125" b="0">
                <a:solidFill>
                  <a:srgbClr val="596C64"/>
                </a:solidFill>
              </a:defRPr>
            </a:lvl1pPr>
            <a:lvl2pPr>
              <a:defRPr sz="1125" b="0">
                <a:solidFill>
                  <a:srgbClr val="596C64"/>
                </a:solidFill>
              </a:defRPr>
            </a:lvl2pPr>
            <a:lvl3pPr>
              <a:defRPr sz="1125" b="0">
                <a:solidFill>
                  <a:srgbClr val="596C64"/>
                </a:solidFill>
              </a:defRPr>
            </a:lvl3pPr>
            <a:lvl4pPr>
              <a:defRPr sz="1125" b="0">
                <a:solidFill>
                  <a:srgbClr val="596C64"/>
                </a:solidFill>
              </a:defRPr>
            </a:lvl4pPr>
            <a:lvl5pPr>
              <a:defRPr sz="1125" b="0">
                <a:solidFill>
                  <a:srgbClr val="596C64"/>
                </a:solidFill>
              </a:defRPr>
            </a:lvl5pPr>
            <a:lvl6pPr>
              <a:defRPr sz="1125" b="0">
                <a:solidFill>
                  <a:srgbClr val="596C64"/>
                </a:solidFill>
              </a:defRPr>
            </a:lvl6pPr>
            <a:lvl7pPr>
              <a:defRPr sz="1125" b="0">
                <a:solidFill>
                  <a:srgbClr val="596C64"/>
                </a:solidFill>
              </a:defRPr>
            </a:lvl7pPr>
            <a:lvl8pPr>
              <a:defRPr sz="1125" b="0">
                <a:solidFill>
                  <a:srgbClr val="596C64"/>
                </a:solidFill>
              </a:defRPr>
            </a:lvl8pPr>
            <a:lvl9pPr>
              <a:defRPr sz="1125" b="0">
                <a:solidFill>
                  <a:srgbClr val="596C6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96C64"/>
                </a:solidFill>
              </a:defRPr>
            </a:pPr>
            <a:r>
              <a:rPr sz="1125" b="0">
                <a:solidFill>
                  <a:srgbClr val="596C64"/>
                </a:solidFill>
              </a:rPr>
              <a:t>DEMO 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8D38C-CAE2-4213-BA53-2B298022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E35"/>
                </a:solidFill>
              </a:defRPr>
            </a:defPPr>
            <a:lvl1pPr>
              <a:defRPr sz="3450" b="1">
                <a:solidFill>
                  <a:srgbClr val="173E35"/>
                </a:solidFill>
              </a:defRPr>
            </a:lvl1pPr>
            <a:lvl2pPr>
              <a:defRPr sz="3450" b="1">
                <a:solidFill>
                  <a:srgbClr val="173E35"/>
                </a:solidFill>
              </a:defRPr>
            </a:lvl2pPr>
            <a:lvl3pPr>
              <a:defRPr sz="3450" b="1">
                <a:solidFill>
                  <a:srgbClr val="173E35"/>
                </a:solidFill>
              </a:defRPr>
            </a:lvl3pPr>
            <a:lvl4pPr>
              <a:defRPr sz="3450" b="1">
                <a:solidFill>
                  <a:srgbClr val="173E35"/>
                </a:solidFill>
              </a:defRPr>
            </a:lvl4pPr>
            <a:lvl5pPr>
              <a:defRPr sz="3450" b="1">
                <a:solidFill>
                  <a:srgbClr val="173E35"/>
                </a:solidFill>
              </a:defRPr>
            </a:lvl5pPr>
            <a:lvl6pPr>
              <a:defRPr sz="3450" b="1">
                <a:solidFill>
                  <a:srgbClr val="173E35"/>
                </a:solidFill>
              </a:defRPr>
            </a:lvl6pPr>
            <a:lvl7pPr>
              <a:defRPr sz="3450" b="1">
                <a:solidFill>
                  <a:srgbClr val="173E35"/>
                </a:solidFill>
              </a:defRPr>
            </a:lvl7pPr>
            <a:lvl8pPr>
              <a:defRPr sz="3450" b="1">
                <a:solidFill>
                  <a:srgbClr val="173E35"/>
                </a:solidFill>
              </a:defRPr>
            </a:lvl8pPr>
            <a:lvl9pPr>
              <a:defRPr sz="3450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E35"/>
                </a:solidFill>
              </a:defRPr>
            </a:pPr>
            <a:r>
              <a:rPr sz="3450" b="1">
                <a:solidFill>
                  <a:srgbClr val="173E35"/>
                </a:solidFill>
              </a:rPr>
              <a:t>A synthetic case makes the decision tangible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30539-7404-4796-AED3-62822E46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6C64"/>
                </a:solidFill>
              </a:defRPr>
            </a:defPPr>
            <a:lvl1pPr>
              <a:defRPr sz="1125" b="0">
                <a:solidFill>
                  <a:srgbClr val="596C64"/>
                </a:solidFill>
              </a:defRPr>
            </a:lvl1pPr>
            <a:lvl2pPr>
              <a:defRPr sz="1125" b="0">
                <a:solidFill>
                  <a:srgbClr val="596C64"/>
                </a:solidFill>
              </a:defRPr>
            </a:lvl2pPr>
            <a:lvl3pPr>
              <a:defRPr sz="1125" b="0">
                <a:solidFill>
                  <a:srgbClr val="596C64"/>
                </a:solidFill>
              </a:defRPr>
            </a:lvl3pPr>
            <a:lvl4pPr>
              <a:defRPr sz="1125" b="0">
                <a:solidFill>
                  <a:srgbClr val="596C64"/>
                </a:solidFill>
              </a:defRPr>
            </a:lvl4pPr>
            <a:lvl5pPr>
              <a:defRPr sz="1125" b="0">
                <a:solidFill>
                  <a:srgbClr val="596C64"/>
                </a:solidFill>
              </a:defRPr>
            </a:lvl5pPr>
            <a:lvl6pPr>
              <a:defRPr sz="1125" b="0">
                <a:solidFill>
                  <a:srgbClr val="596C64"/>
                </a:solidFill>
              </a:defRPr>
            </a:lvl6pPr>
            <a:lvl7pPr>
              <a:defRPr sz="1125" b="0">
                <a:solidFill>
                  <a:srgbClr val="596C64"/>
                </a:solidFill>
              </a:defRPr>
            </a:lvl7pPr>
            <a:lvl8pPr>
              <a:defRPr sz="1125" b="0">
                <a:solidFill>
                  <a:srgbClr val="596C64"/>
                </a:solidFill>
              </a:defRPr>
            </a:lvl8pPr>
            <a:lvl9pPr>
              <a:defRPr sz="1125" b="0">
                <a:solidFill>
                  <a:srgbClr val="596C6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96C64"/>
                </a:solidFill>
              </a:defRPr>
            </a:pPr>
            <a:r>
              <a:rPr sz="1125" b="0">
                <a:solidFill>
                  <a:srgbClr val="596C64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5B3733-52A3-482B-B912-7D664A90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3E35"/>
                </a:solidFill>
              </a:defRPr>
            </a:defPPr>
            <a:lvl1pPr>
              <a:defRPr sz="2475" b="1">
                <a:solidFill>
                  <a:srgbClr val="173E35"/>
                </a:solidFill>
              </a:defRPr>
            </a:lvl1pPr>
            <a:lvl2pPr>
              <a:defRPr sz="2475" b="1">
                <a:solidFill>
                  <a:srgbClr val="173E35"/>
                </a:solidFill>
              </a:defRPr>
            </a:lvl2pPr>
            <a:lvl3pPr>
              <a:defRPr sz="2475" b="1">
                <a:solidFill>
                  <a:srgbClr val="173E35"/>
                </a:solidFill>
              </a:defRPr>
            </a:lvl3pPr>
            <a:lvl4pPr>
              <a:defRPr sz="2475" b="1">
                <a:solidFill>
                  <a:srgbClr val="173E35"/>
                </a:solidFill>
              </a:defRPr>
            </a:lvl4pPr>
            <a:lvl5pPr>
              <a:defRPr sz="2475" b="1">
                <a:solidFill>
                  <a:srgbClr val="173E35"/>
                </a:solidFill>
              </a:defRPr>
            </a:lvl5pPr>
            <a:lvl6pPr>
              <a:defRPr sz="2475" b="1">
                <a:solidFill>
                  <a:srgbClr val="173E35"/>
                </a:solidFill>
              </a:defRPr>
            </a:lvl6pPr>
            <a:lvl7pPr>
              <a:defRPr sz="2475" b="1">
                <a:solidFill>
                  <a:srgbClr val="173E35"/>
                </a:solidFill>
              </a:defRPr>
            </a:lvl7pPr>
            <a:lvl8pPr>
              <a:defRPr sz="2475" b="1">
                <a:solidFill>
                  <a:srgbClr val="173E35"/>
                </a:solidFill>
              </a:defRPr>
            </a:lvl8pPr>
            <a:lvl9pPr>
              <a:defRPr sz="2475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3E35"/>
                </a:solidFill>
              </a:defRPr>
            </a:pPr>
            <a:r>
              <a:rPr sz="2475" b="1">
                <a:solidFill>
                  <a:srgbClr val="173E35"/>
                </a:solidFill>
              </a:rPr>
              <a:t>Sundar Harvest Collective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3AD87-7648-4EC1-BF7A-2F80A3BD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150" b="1">
                <a:solidFill>
                  <a:srgbClr val="173E35"/>
                </a:solidFill>
              </a:defRPr>
            </a:defPPr>
            <a:lvl1pPr>
              <a:defRPr sz="6150" b="1">
                <a:solidFill>
                  <a:srgbClr val="173E35"/>
                </a:solidFill>
              </a:defRPr>
            </a:lvl1pPr>
            <a:lvl2pPr>
              <a:defRPr sz="6150" b="1">
                <a:solidFill>
                  <a:srgbClr val="173E35"/>
                </a:solidFill>
              </a:defRPr>
            </a:lvl2pPr>
            <a:lvl3pPr>
              <a:defRPr sz="6150" b="1">
                <a:solidFill>
                  <a:srgbClr val="173E35"/>
                </a:solidFill>
              </a:defRPr>
            </a:lvl3pPr>
            <a:lvl4pPr>
              <a:defRPr sz="6150" b="1">
                <a:solidFill>
                  <a:srgbClr val="173E35"/>
                </a:solidFill>
              </a:defRPr>
            </a:lvl4pPr>
            <a:lvl5pPr>
              <a:defRPr sz="6150" b="1">
                <a:solidFill>
                  <a:srgbClr val="173E35"/>
                </a:solidFill>
              </a:defRPr>
            </a:lvl5pPr>
            <a:lvl6pPr>
              <a:defRPr sz="6150" b="1">
                <a:solidFill>
                  <a:srgbClr val="173E35"/>
                </a:solidFill>
              </a:defRPr>
            </a:lvl6pPr>
            <a:lvl7pPr>
              <a:defRPr sz="6150" b="1">
                <a:solidFill>
                  <a:srgbClr val="173E35"/>
                </a:solidFill>
              </a:defRPr>
            </a:lvl7pPr>
            <a:lvl8pPr>
              <a:defRPr sz="6150" b="1">
                <a:solidFill>
                  <a:srgbClr val="173E35"/>
                </a:solidFill>
              </a:defRPr>
            </a:lvl8pPr>
            <a:lvl9pPr>
              <a:defRPr sz="6150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6150" b="1">
                <a:solidFill>
                  <a:srgbClr val="173E35"/>
                </a:solidFill>
              </a:defRPr>
            </a:pPr>
            <a:r>
              <a:rPr sz="6150" b="1">
                <a:solidFill>
                  <a:srgbClr val="173E35"/>
                </a:solidFill>
              </a:rPr>
              <a:t>72%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120C1-D1E3-4ED5-BA4C-3616035B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300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96C64"/>
                </a:solidFill>
              </a:defRPr>
            </a:defPPr>
            <a:lvl1pPr>
              <a:defRPr sz="1950" b="0">
                <a:solidFill>
                  <a:srgbClr val="596C64"/>
                </a:solidFill>
              </a:defRPr>
            </a:lvl1pPr>
            <a:lvl2pPr>
              <a:defRPr sz="1950" b="0">
                <a:solidFill>
                  <a:srgbClr val="596C64"/>
                </a:solidFill>
              </a:defRPr>
            </a:lvl2pPr>
            <a:lvl3pPr>
              <a:defRPr sz="1950" b="0">
                <a:solidFill>
                  <a:srgbClr val="596C64"/>
                </a:solidFill>
              </a:defRPr>
            </a:lvl3pPr>
            <a:lvl4pPr>
              <a:defRPr sz="1950" b="0">
                <a:solidFill>
                  <a:srgbClr val="596C64"/>
                </a:solidFill>
              </a:defRPr>
            </a:lvl4pPr>
            <a:lvl5pPr>
              <a:defRPr sz="1950" b="0">
                <a:solidFill>
                  <a:srgbClr val="596C64"/>
                </a:solidFill>
              </a:defRPr>
            </a:lvl5pPr>
            <a:lvl6pPr>
              <a:defRPr sz="1950" b="0">
                <a:solidFill>
                  <a:srgbClr val="596C64"/>
                </a:solidFill>
              </a:defRPr>
            </a:lvl6pPr>
            <a:lvl7pPr>
              <a:defRPr sz="1950" b="0">
                <a:solidFill>
                  <a:srgbClr val="596C64"/>
                </a:solidFill>
              </a:defRPr>
            </a:lvl7pPr>
            <a:lvl8pPr>
              <a:defRPr sz="1950" b="0">
                <a:solidFill>
                  <a:srgbClr val="596C64"/>
                </a:solidFill>
              </a:defRPr>
            </a:lvl8pPr>
            <a:lvl9pPr>
              <a:defRPr sz="1950" b="0">
                <a:solidFill>
                  <a:srgbClr val="596C64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96C64"/>
                </a:solidFill>
              </a:defRPr>
            </a:pPr>
            <a:r>
              <a:rPr sz="1950" b="0">
                <a:solidFill>
                  <a:srgbClr val="596C64"/>
                </a:solidFill>
              </a:rPr>
              <a:t>Receivables aged over 60 days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95CEE-DFA3-4412-9B69-668BE6F5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150" b="1">
                <a:solidFill>
                  <a:srgbClr val="173E35"/>
                </a:solidFill>
              </a:defRPr>
            </a:defPPr>
            <a:lvl1pPr>
              <a:defRPr sz="6150" b="1">
                <a:solidFill>
                  <a:srgbClr val="173E35"/>
                </a:solidFill>
              </a:defRPr>
            </a:lvl1pPr>
            <a:lvl2pPr>
              <a:defRPr sz="6150" b="1">
                <a:solidFill>
                  <a:srgbClr val="173E35"/>
                </a:solidFill>
              </a:defRPr>
            </a:lvl2pPr>
            <a:lvl3pPr>
              <a:defRPr sz="6150" b="1">
                <a:solidFill>
                  <a:srgbClr val="173E35"/>
                </a:solidFill>
              </a:defRPr>
            </a:lvl3pPr>
            <a:lvl4pPr>
              <a:defRPr sz="6150" b="1">
                <a:solidFill>
                  <a:srgbClr val="173E35"/>
                </a:solidFill>
              </a:defRPr>
            </a:lvl4pPr>
            <a:lvl5pPr>
              <a:defRPr sz="6150" b="1">
                <a:solidFill>
                  <a:srgbClr val="173E35"/>
                </a:solidFill>
              </a:defRPr>
            </a:lvl5pPr>
            <a:lvl6pPr>
              <a:defRPr sz="6150" b="1">
                <a:solidFill>
                  <a:srgbClr val="173E35"/>
                </a:solidFill>
              </a:defRPr>
            </a:lvl6pPr>
            <a:lvl7pPr>
              <a:defRPr sz="6150" b="1">
                <a:solidFill>
                  <a:srgbClr val="173E35"/>
                </a:solidFill>
              </a:defRPr>
            </a:lvl7pPr>
            <a:lvl8pPr>
              <a:defRPr sz="6150" b="1">
                <a:solidFill>
                  <a:srgbClr val="173E35"/>
                </a:solidFill>
              </a:defRPr>
            </a:lvl8pPr>
            <a:lvl9pPr>
              <a:defRPr sz="6150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6150" b="1">
                <a:solidFill>
                  <a:srgbClr val="173E35"/>
                </a:solidFill>
              </a:defRPr>
            </a:pPr>
            <a:r>
              <a:rPr sz="6150" b="1">
                <a:solidFill>
                  <a:srgbClr val="173E35"/>
                </a:solidFill>
              </a:rPr>
              <a:t>−2.4%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EE402-5BC0-48B7-BAE5-405347B3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3387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96C64"/>
                </a:solidFill>
              </a:defRPr>
            </a:defPPr>
            <a:lvl1pPr>
              <a:defRPr sz="1950" b="0">
                <a:solidFill>
                  <a:srgbClr val="596C64"/>
                </a:solidFill>
              </a:defRPr>
            </a:lvl1pPr>
            <a:lvl2pPr>
              <a:defRPr sz="1950" b="0">
                <a:solidFill>
                  <a:srgbClr val="596C64"/>
                </a:solidFill>
              </a:defRPr>
            </a:lvl2pPr>
            <a:lvl3pPr>
              <a:defRPr sz="1950" b="0">
                <a:solidFill>
                  <a:srgbClr val="596C64"/>
                </a:solidFill>
              </a:defRPr>
            </a:lvl3pPr>
            <a:lvl4pPr>
              <a:defRPr sz="1950" b="0">
                <a:solidFill>
                  <a:srgbClr val="596C64"/>
                </a:solidFill>
              </a:defRPr>
            </a:lvl4pPr>
            <a:lvl5pPr>
              <a:defRPr sz="1950" b="0">
                <a:solidFill>
                  <a:srgbClr val="596C64"/>
                </a:solidFill>
              </a:defRPr>
            </a:lvl5pPr>
            <a:lvl6pPr>
              <a:defRPr sz="1950" b="0">
                <a:solidFill>
                  <a:srgbClr val="596C64"/>
                </a:solidFill>
              </a:defRPr>
            </a:lvl6pPr>
            <a:lvl7pPr>
              <a:defRPr sz="1950" b="0">
                <a:solidFill>
                  <a:srgbClr val="596C64"/>
                </a:solidFill>
              </a:defRPr>
            </a:lvl7pPr>
            <a:lvl8pPr>
              <a:defRPr sz="1950" b="0">
                <a:solidFill>
                  <a:srgbClr val="596C64"/>
                </a:solidFill>
              </a:defRPr>
            </a:lvl8pPr>
            <a:lvl9pPr>
              <a:defRPr sz="1950" b="0">
                <a:solidFill>
                  <a:srgbClr val="596C64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96C64"/>
                </a:solidFill>
              </a:defRPr>
            </a:pPr>
            <a:r>
              <a:rPr sz="1950" b="0">
                <a:solidFill>
                  <a:srgbClr val="596C64"/>
                </a:solidFill>
              </a:rPr>
              <a:t>Revenue trend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846BAC-5FDC-4B0F-9D02-BB178AAF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150" b="1">
                <a:solidFill>
                  <a:srgbClr val="173E35"/>
                </a:solidFill>
              </a:defRPr>
            </a:defPPr>
            <a:lvl1pPr>
              <a:defRPr sz="6150" b="1">
                <a:solidFill>
                  <a:srgbClr val="173E35"/>
                </a:solidFill>
              </a:defRPr>
            </a:lvl1pPr>
            <a:lvl2pPr>
              <a:defRPr sz="6150" b="1">
                <a:solidFill>
                  <a:srgbClr val="173E35"/>
                </a:solidFill>
              </a:defRPr>
            </a:lvl2pPr>
            <a:lvl3pPr>
              <a:defRPr sz="6150" b="1">
                <a:solidFill>
                  <a:srgbClr val="173E35"/>
                </a:solidFill>
              </a:defRPr>
            </a:lvl3pPr>
            <a:lvl4pPr>
              <a:defRPr sz="6150" b="1">
                <a:solidFill>
                  <a:srgbClr val="173E35"/>
                </a:solidFill>
              </a:defRPr>
            </a:lvl4pPr>
            <a:lvl5pPr>
              <a:defRPr sz="6150" b="1">
                <a:solidFill>
                  <a:srgbClr val="173E35"/>
                </a:solidFill>
              </a:defRPr>
            </a:lvl5pPr>
            <a:lvl6pPr>
              <a:defRPr sz="6150" b="1">
                <a:solidFill>
                  <a:srgbClr val="173E35"/>
                </a:solidFill>
              </a:defRPr>
            </a:lvl6pPr>
            <a:lvl7pPr>
              <a:defRPr sz="6150" b="1">
                <a:solidFill>
                  <a:srgbClr val="173E35"/>
                </a:solidFill>
              </a:defRPr>
            </a:lvl7pPr>
            <a:lvl8pPr>
              <a:defRPr sz="6150" b="1">
                <a:solidFill>
                  <a:srgbClr val="173E35"/>
                </a:solidFill>
              </a:defRPr>
            </a:lvl8pPr>
            <a:lvl9pPr>
              <a:defRPr sz="6150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6150" b="1">
                <a:solidFill>
                  <a:srgbClr val="173E35"/>
                </a:solidFill>
              </a:defRPr>
            </a:pPr>
            <a:r>
              <a:rPr sz="6150" b="1">
                <a:solidFill>
                  <a:srgbClr val="173E35"/>
                </a:solidFill>
              </a:rPr>
              <a:t>70.8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B49E5-1C4A-4B87-8800-0B1318F9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338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96C64"/>
                </a:solidFill>
              </a:defRPr>
            </a:defPPr>
            <a:lvl1pPr>
              <a:defRPr sz="1950" b="0">
                <a:solidFill>
                  <a:srgbClr val="596C64"/>
                </a:solidFill>
              </a:defRPr>
            </a:lvl1pPr>
            <a:lvl2pPr>
              <a:defRPr sz="1950" b="0">
                <a:solidFill>
                  <a:srgbClr val="596C64"/>
                </a:solidFill>
              </a:defRPr>
            </a:lvl2pPr>
            <a:lvl3pPr>
              <a:defRPr sz="1950" b="0">
                <a:solidFill>
                  <a:srgbClr val="596C64"/>
                </a:solidFill>
              </a:defRPr>
            </a:lvl3pPr>
            <a:lvl4pPr>
              <a:defRPr sz="1950" b="0">
                <a:solidFill>
                  <a:srgbClr val="596C64"/>
                </a:solidFill>
              </a:defRPr>
            </a:lvl4pPr>
            <a:lvl5pPr>
              <a:defRPr sz="1950" b="0">
                <a:solidFill>
                  <a:srgbClr val="596C64"/>
                </a:solidFill>
              </a:defRPr>
            </a:lvl5pPr>
            <a:lvl6pPr>
              <a:defRPr sz="1950" b="0">
                <a:solidFill>
                  <a:srgbClr val="596C64"/>
                </a:solidFill>
              </a:defRPr>
            </a:lvl6pPr>
            <a:lvl7pPr>
              <a:defRPr sz="1950" b="0">
                <a:solidFill>
                  <a:srgbClr val="596C64"/>
                </a:solidFill>
              </a:defRPr>
            </a:lvl7pPr>
            <a:lvl8pPr>
              <a:defRPr sz="1950" b="0">
                <a:solidFill>
                  <a:srgbClr val="596C64"/>
                </a:solidFill>
              </a:defRPr>
            </a:lvl8pPr>
            <a:lvl9pPr>
              <a:defRPr sz="1950" b="0">
                <a:solidFill>
                  <a:srgbClr val="596C64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96C64"/>
                </a:solidFill>
              </a:defRPr>
            </a:pPr>
            <a:r>
              <a:rPr sz="1950" b="0">
                <a:solidFill>
                  <a:srgbClr val="596C64"/>
                </a:solidFill>
              </a:rPr>
              <a:t>Risk score / 100</a:t>
            </a:r>
          </a:p>
          <a:p xmlns:a="http://schemas.openxmlformats.org/drawingml/2006/main">
            <a:pPr>
              <a:defRPr sz="1950" b="0">
                <a:solidFill>
                  <a:srgbClr val="596C64"/>
                </a:solidFill>
              </a:defRPr>
            </a:pPr>
            <a:r>
              <a:rPr sz="1950" b="0">
                <a:solidFill>
                  <a:srgbClr val="596C64"/>
                </a:solidFill>
              </a:rPr>
              <a:t>HIGH tier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F31C76-5816-4410-9E4E-29E8642F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E35"/>
                </a:solidFill>
              </a:defRPr>
            </a:defPPr>
            <a:lvl1pPr>
              <a:defRPr sz="1950" b="0">
                <a:solidFill>
                  <a:srgbClr val="173E35"/>
                </a:solidFill>
              </a:defRPr>
            </a:lvl1pPr>
            <a:lvl2pPr>
              <a:defRPr sz="1950" b="0">
                <a:solidFill>
                  <a:srgbClr val="173E35"/>
                </a:solidFill>
              </a:defRPr>
            </a:lvl2pPr>
            <a:lvl3pPr>
              <a:defRPr sz="1950" b="0">
                <a:solidFill>
                  <a:srgbClr val="173E35"/>
                </a:solidFill>
              </a:defRPr>
            </a:lvl3pPr>
            <a:lvl4pPr>
              <a:defRPr sz="1950" b="0">
                <a:solidFill>
                  <a:srgbClr val="173E35"/>
                </a:solidFill>
              </a:defRPr>
            </a:lvl4pPr>
            <a:lvl5pPr>
              <a:defRPr sz="1950" b="0">
                <a:solidFill>
                  <a:srgbClr val="173E35"/>
                </a:solidFill>
              </a:defRPr>
            </a:lvl5pPr>
            <a:lvl6pPr>
              <a:defRPr sz="1950" b="0">
                <a:solidFill>
                  <a:srgbClr val="173E35"/>
                </a:solidFill>
              </a:defRPr>
            </a:lvl6pPr>
            <a:lvl7pPr>
              <a:defRPr sz="1950" b="0">
                <a:solidFill>
                  <a:srgbClr val="173E35"/>
                </a:solidFill>
              </a:defRPr>
            </a:lvl7pPr>
            <a:lvl8pPr>
              <a:defRPr sz="1950" b="0">
                <a:solidFill>
                  <a:srgbClr val="173E35"/>
                </a:solidFill>
              </a:defRPr>
            </a:lvl8pPr>
            <a:lvl9pPr>
              <a:defRPr sz="1950" b="0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E35"/>
                </a:solidFill>
              </a:defRPr>
            </a:pPr>
            <a:r>
              <a:rPr sz="1950" b="0">
                <a:solidFill>
                  <a:srgbClr val="173E35"/>
                </a:solidFill>
              </a:rPr>
              <a:t>The review points to liquidity and collections stress while revenue remains broadly stable.</a:t>
            </a:r>
          </a:p>
        </p:txBody>
      </p:sp>
    </p:spTree>
    <p:extLst>
      <p:ext uri="{BB962C8B-B14F-4D97-AF65-F5344CB8AC3E}">
        <p14:creationId xmlns:p14="http://schemas.microsoft.com/office/powerpoint/2010/main" val="6996483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31D7A-86BC-4712-AD63-73BC6466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3E35"/>
                </a:solidFill>
              </a:defRPr>
            </a:defPPr>
            <a:lvl1pPr>
              <a:defRPr sz="1425" b="1">
                <a:solidFill>
                  <a:srgbClr val="173E35"/>
                </a:solidFill>
              </a:defRPr>
            </a:lvl1pPr>
            <a:lvl2pPr>
              <a:defRPr sz="1425" b="1">
                <a:solidFill>
                  <a:srgbClr val="173E35"/>
                </a:solidFill>
              </a:defRPr>
            </a:lvl2pPr>
            <a:lvl3pPr>
              <a:defRPr sz="1425" b="1">
                <a:solidFill>
                  <a:srgbClr val="173E35"/>
                </a:solidFill>
              </a:defRPr>
            </a:lvl3pPr>
            <a:lvl4pPr>
              <a:defRPr sz="1425" b="1">
                <a:solidFill>
                  <a:srgbClr val="173E35"/>
                </a:solidFill>
              </a:defRPr>
            </a:lvl4pPr>
            <a:lvl5pPr>
              <a:defRPr sz="1425" b="1">
                <a:solidFill>
                  <a:srgbClr val="173E35"/>
                </a:solidFill>
              </a:defRPr>
            </a:lvl5pPr>
            <a:lvl6pPr>
              <a:defRPr sz="1425" b="1">
                <a:solidFill>
                  <a:srgbClr val="173E35"/>
                </a:solidFill>
              </a:defRPr>
            </a:lvl6pPr>
            <a:lvl7pPr>
              <a:defRPr sz="1425" b="1">
                <a:solidFill>
                  <a:srgbClr val="173E35"/>
                </a:solidFill>
              </a:defRPr>
            </a:lvl7pPr>
            <a:lvl8pPr>
              <a:defRPr sz="1425" b="1">
                <a:solidFill>
                  <a:srgbClr val="173E35"/>
                </a:solidFill>
              </a:defRPr>
            </a:lvl8pPr>
            <a:lvl9pPr>
              <a:defRPr sz="1425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3E35"/>
                </a:solidFill>
              </a:defRPr>
            </a:pPr>
            <a:r>
              <a:rPr sz="1425" b="1">
                <a:solidFill>
                  <a:srgbClr val="173E35"/>
                </a:solidFill>
              </a:rPr>
              <a:t>RuralLens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5EC72-2C2D-42C9-A1B2-E9DF8BD6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6C64"/>
                </a:solidFill>
              </a:defRPr>
            </a:defPPr>
            <a:lvl1pPr>
              <a:defRPr sz="1125" b="0">
                <a:solidFill>
                  <a:srgbClr val="596C64"/>
                </a:solidFill>
              </a:defRPr>
            </a:lvl1pPr>
            <a:lvl2pPr>
              <a:defRPr sz="1125" b="0">
                <a:solidFill>
                  <a:srgbClr val="596C64"/>
                </a:solidFill>
              </a:defRPr>
            </a:lvl2pPr>
            <a:lvl3pPr>
              <a:defRPr sz="1125" b="0">
                <a:solidFill>
                  <a:srgbClr val="596C64"/>
                </a:solidFill>
              </a:defRPr>
            </a:lvl3pPr>
            <a:lvl4pPr>
              <a:defRPr sz="1125" b="0">
                <a:solidFill>
                  <a:srgbClr val="596C64"/>
                </a:solidFill>
              </a:defRPr>
            </a:lvl4pPr>
            <a:lvl5pPr>
              <a:defRPr sz="1125" b="0">
                <a:solidFill>
                  <a:srgbClr val="596C64"/>
                </a:solidFill>
              </a:defRPr>
            </a:lvl5pPr>
            <a:lvl6pPr>
              <a:defRPr sz="1125" b="0">
                <a:solidFill>
                  <a:srgbClr val="596C64"/>
                </a:solidFill>
              </a:defRPr>
            </a:lvl6pPr>
            <a:lvl7pPr>
              <a:defRPr sz="1125" b="0">
                <a:solidFill>
                  <a:srgbClr val="596C64"/>
                </a:solidFill>
              </a:defRPr>
            </a:lvl7pPr>
            <a:lvl8pPr>
              <a:defRPr sz="1125" b="0">
                <a:solidFill>
                  <a:srgbClr val="596C64"/>
                </a:solidFill>
              </a:defRPr>
            </a:lvl8pPr>
            <a:lvl9pPr>
              <a:defRPr sz="1125" b="0">
                <a:solidFill>
                  <a:srgbClr val="596C6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96C64"/>
                </a:solidFill>
              </a:defRPr>
            </a:pPr>
            <a:r>
              <a:rPr sz="1125" b="0">
                <a:solidFill>
                  <a:srgbClr val="596C64"/>
                </a:solidFill>
              </a:rPr>
              <a:t>ILLUSTRATIVE SCENARIO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17DD6-35C0-4F38-91CB-FC934EC3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E35"/>
                </a:solidFill>
              </a:defRPr>
            </a:defPPr>
            <a:lvl1pPr>
              <a:defRPr sz="3450" b="1">
                <a:solidFill>
                  <a:srgbClr val="173E35"/>
                </a:solidFill>
              </a:defRPr>
            </a:lvl1pPr>
            <a:lvl2pPr>
              <a:defRPr sz="3450" b="1">
                <a:solidFill>
                  <a:srgbClr val="173E35"/>
                </a:solidFill>
              </a:defRPr>
            </a:lvl2pPr>
            <a:lvl3pPr>
              <a:defRPr sz="3450" b="1">
                <a:solidFill>
                  <a:srgbClr val="173E35"/>
                </a:solidFill>
              </a:defRPr>
            </a:lvl3pPr>
            <a:lvl4pPr>
              <a:defRPr sz="3450" b="1">
                <a:solidFill>
                  <a:srgbClr val="173E35"/>
                </a:solidFill>
              </a:defRPr>
            </a:lvl4pPr>
            <a:lvl5pPr>
              <a:defRPr sz="3450" b="1">
                <a:solidFill>
                  <a:srgbClr val="173E35"/>
                </a:solidFill>
              </a:defRPr>
            </a:lvl5pPr>
            <a:lvl6pPr>
              <a:defRPr sz="3450" b="1">
                <a:solidFill>
                  <a:srgbClr val="173E35"/>
                </a:solidFill>
              </a:defRPr>
            </a:lvl6pPr>
            <a:lvl7pPr>
              <a:defRPr sz="3450" b="1">
                <a:solidFill>
                  <a:srgbClr val="173E35"/>
                </a:solidFill>
              </a:defRPr>
            </a:lvl7pPr>
            <a:lvl8pPr>
              <a:defRPr sz="3450" b="1">
                <a:solidFill>
                  <a:srgbClr val="173E35"/>
                </a:solidFill>
              </a:defRPr>
            </a:lvl8pPr>
            <a:lvl9pPr>
              <a:defRPr sz="3450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E35"/>
                </a:solidFill>
              </a:defRPr>
            </a:pPr>
            <a:r>
              <a:rPr sz="3450" b="1">
                <a:solidFill>
                  <a:srgbClr val="173E35"/>
                </a:solidFill>
              </a:rPr>
              <a:t>Scenarios help teams assess a possible intervention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A156E-4D10-46A9-85E2-B81837BC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6C64"/>
                </a:solidFill>
              </a:defRPr>
            </a:defPPr>
            <a:lvl1pPr>
              <a:defRPr sz="1125" b="0">
                <a:solidFill>
                  <a:srgbClr val="596C64"/>
                </a:solidFill>
              </a:defRPr>
            </a:lvl1pPr>
            <a:lvl2pPr>
              <a:defRPr sz="1125" b="0">
                <a:solidFill>
                  <a:srgbClr val="596C64"/>
                </a:solidFill>
              </a:defRPr>
            </a:lvl2pPr>
            <a:lvl3pPr>
              <a:defRPr sz="1125" b="0">
                <a:solidFill>
                  <a:srgbClr val="596C64"/>
                </a:solidFill>
              </a:defRPr>
            </a:lvl3pPr>
            <a:lvl4pPr>
              <a:defRPr sz="1125" b="0">
                <a:solidFill>
                  <a:srgbClr val="596C64"/>
                </a:solidFill>
              </a:defRPr>
            </a:lvl4pPr>
            <a:lvl5pPr>
              <a:defRPr sz="1125" b="0">
                <a:solidFill>
                  <a:srgbClr val="596C64"/>
                </a:solidFill>
              </a:defRPr>
            </a:lvl5pPr>
            <a:lvl6pPr>
              <a:defRPr sz="1125" b="0">
                <a:solidFill>
                  <a:srgbClr val="596C64"/>
                </a:solidFill>
              </a:defRPr>
            </a:lvl6pPr>
            <a:lvl7pPr>
              <a:defRPr sz="1125" b="0">
                <a:solidFill>
                  <a:srgbClr val="596C64"/>
                </a:solidFill>
              </a:defRPr>
            </a:lvl7pPr>
            <a:lvl8pPr>
              <a:defRPr sz="1125" b="0">
                <a:solidFill>
                  <a:srgbClr val="596C64"/>
                </a:solidFill>
              </a:defRPr>
            </a:lvl8pPr>
            <a:lvl9pPr>
              <a:defRPr sz="1125" b="0">
                <a:solidFill>
                  <a:srgbClr val="596C6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96C64"/>
                </a:solidFill>
              </a:defRPr>
            </a:pPr>
            <a:r>
              <a:rPr sz="1125" b="0">
                <a:solidFill>
                  <a:srgbClr val="596C64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9B1F6-3C42-45B9-AF66-28CB4CD3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E35"/>
                </a:solidFill>
              </a:defRPr>
            </a:defPPr>
            <a:lvl1pPr>
              <a:defRPr sz="2250" b="1">
                <a:solidFill>
                  <a:srgbClr val="173E35"/>
                </a:solidFill>
              </a:defRPr>
            </a:lvl1pPr>
            <a:lvl2pPr>
              <a:defRPr sz="2250" b="1">
                <a:solidFill>
                  <a:srgbClr val="173E35"/>
                </a:solidFill>
              </a:defRPr>
            </a:lvl2pPr>
            <a:lvl3pPr>
              <a:defRPr sz="2250" b="1">
                <a:solidFill>
                  <a:srgbClr val="173E35"/>
                </a:solidFill>
              </a:defRPr>
            </a:lvl3pPr>
            <a:lvl4pPr>
              <a:defRPr sz="2250" b="1">
                <a:solidFill>
                  <a:srgbClr val="173E35"/>
                </a:solidFill>
              </a:defRPr>
            </a:lvl4pPr>
            <a:lvl5pPr>
              <a:defRPr sz="2250" b="1">
                <a:solidFill>
                  <a:srgbClr val="173E35"/>
                </a:solidFill>
              </a:defRPr>
            </a:lvl5pPr>
            <a:lvl6pPr>
              <a:defRPr sz="2250" b="1">
                <a:solidFill>
                  <a:srgbClr val="173E35"/>
                </a:solidFill>
              </a:defRPr>
            </a:lvl6pPr>
            <a:lvl7pPr>
              <a:defRPr sz="2250" b="1">
                <a:solidFill>
                  <a:srgbClr val="173E35"/>
                </a:solidFill>
              </a:defRPr>
            </a:lvl7pPr>
            <a:lvl8pPr>
              <a:defRPr sz="2250" b="1">
                <a:solidFill>
                  <a:srgbClr val="173E35"/>
                </a:solidFill>
              </a:defRPr>
            </a:lvl8pPr>
            <a:lvl9pPr>
              <a:defRPr sz="2250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3E35"/>
                </a:solidFill>
              </a:defRPr>
            </a:pPr>
            <a:r>
              <a:rPr sz="2250" b="1">
                <a:solidFill>
                  <a:srgbClr val="173E35"/>
                </a:solidFill>
              </a:rPr>
              <a:t>Collection assumption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8F9FD-BF6F-4942-9720-350B24A6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0">
                <a:solidFill>
                  <a:srgbClr val="173E35"/>
                </a:solidFill>
              </a:defRPr>
            </a:defPPr>
            <a:lvl1pPr>
              <a:defRPr sz="2925" b="0">
                <a:solidFill>
                  <a:srgbClr val="173E35"/>
                </a:solidFill>
              </a:defRPr>
            </a:lvl1pPr>
            <a:lvl2pPr>
              <a:defRPr sz="2925" b="0">
                <a:solidFill>
                  <a:srgbClr val="173E35"/>
                </a:solidFill>
              </a:defRPr>
            </a:lvl2pPr>
            <a:lvl3pPr>
              <a:defRPr sz="2925" b="0">
                <a:solidFill>
                  <a:srgbClr val="173E35"/>
                </a:solidFill>
              </a:defRPr>
            </a:lvl3pPr>
            <a:lvl4pPr>
              <a:defRPr sz="2925" b="0">
                <a:solidFill>
                  <a:srgbClr val="173E35"/>
                </a:solidFill>
              </a:defRPr>
            </a:lvl4pPr>
            <a:lvl5pPr>
              <a:defRPr sz="2925" b="0">
                <a:solidFill>
                  <a:srgbClr val="173E35"/>
                </a:solidFill>
              </a:defRPr>
            </a:lvl5pPr>
            <a:lvl6pPr>
              <a:defRPr sz="2925" b="0">
                <a:solidFill>
                  <a:srgbClr val="173E35"/>
                </a:solidFill>
              </a:defRPr>
            </a:lvl6pPr>
            <a:lvl7pPr>
              <a:defRPr sz="2925" b="0">
                <a:solidFill>
                  <a:srgbClr val="173E35"/>
                </a:solidFill>
              </a:defRPr>
            </a:lvl7pPr>
            <a:lvl8pPr>
              <a:defRPr sz="2925" b="0">
                <a:solidFill>
                  <a:srgbClr val="173E35"/>
                </a:solidFill>
              </a:defRPr>
            </a:lvl8pPr>
            <a:lvl9pPr>
              <a:defRPr sz="2925" b="0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173E35"/>
                </a:solidFill>
              </a:defRPr>
            </a:pPr>
            <a:r>
              <a:rPr sz="2925" b="0">
                <a:solidFill>
                  <a:srgbClr val="173E35"/>
                </a:solidFill>
              </a:rPr>
              <a:t>75% of overdue receivables collected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F879F-CE75-478A-91A8-957ABBF8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24125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850" b="1">
                <a:solidFill>
                  <a:srgbClr val="173E35"/>
                </a:solidFill>
              </a:defRPr>
            </a:defPPr>
            <a:lvl1pPr>
              <a:defRPr sz="5850" b="1">
                <a:solidFill>
                  <a:srgbClr val="173E35"/>
                </a:solidFill>
              </a:defRPr>
            </a:lvl1pPr>
            <a:lvl2pPr>
              <a:defRPr sz="5850" b="1">
                <a:solidFill>
                  <a:srgbClr val="173E35"/>
                </a:solidFill>
              </a:defRPr>
            </a:lvl2pPr>
            <a:lvl3pPr>
              <a:defRPr sz="5850" b="1">
                <a:solidFill>
                  <a:srgbClr val="173E35"/>
                </a:solidFill>
              </a:defRPr>
            </a:lvl3pPr>
            <a:lvl4pPr>
              <a:defRPr sz="5850" b="1">
                <a:solidFill>
                  <a:srgbClr val="173E35"/>
                </a:solidFill>
              </a:defRPr>
            </a:lvl4pPr>
            <a:lvl5pPr>
              <a:defRPr sz="5850" b="1">
                <a:solidFill>
                  <a:srgbClr val="173E35"/>
                </a:solidFill>
              </a:defRPr>
            </a:lvl5pPr>
            <a:lvl6pPr>
              <a:defRPr sz="5850" b="1">
                <a:solidFill>
                  <a:srgbClr val="173E35"/>
                </a:solidFill>
              </a:defRPr>
            </a:lvl6pPr>
            <a:lvl7pPr>
              <a:defRPr sz="5850" b="1">
                <a:solidFill>
                  <a:srgbClr val="173E35"/>
                </a:solidFill>
              </a:defRPr>
            </a:lvl7pPr>
            <a:lvl8pPr>
              <a:defRPr sz="5850" b="1">
                <a:solidFill>
                  <a:srgbClr val="173E35"/>
                </a:solidFill>
              </a:defRPr>
            </a:lvl8pPr>
            <a:lvl9pPr>
              <a:defRPr sz="5850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173E35"/>
                </a:solidFill>
              </a:defRPr>
            </a:pPr>
            <a:r>
              <a:rPr sz="5850" b="1">
                <a:solidFill>
                  <a:srgbClr val="173E35"/>
                </a:solidFill>
              </a:rPr>
              <a:t>70.8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471CD-F86A-4330-8B16-06CC5D01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766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96C64"/>
                </a:solidFill>
              </a:defRPr>
            </a:defPPr>
            <a:lvl1pPr>
              <a:defRPr sz="1875" b="0">
                <a:solidFill>
                  <a:srgbClr val="596C64"/>
                </a:solidFill>
              </a:defRPr>
            </a:lvl1pPr>
            <a:lvl2pPr>
              <a:defRPr sz="1875" b="0">
                <a:solidFill>
                  <a:srgbClr val="596C64"/>
                </a:solidFill>
              </a:defRPr>
            </a:lvl2pPr>
            <a:lvl3pPr>
              <a:defRPr sz="1875" b="0">
                <a:solidFill>
                  <a:srgbClr val="596C64"/>
                </a:solidFill>
              </a:defRPr>
            </a:lvl3pPr>
            <a:lvl4pPr>
              <a:defRPr sz="1875" b="0">
                <a:solidFill>
                  <a:srgbClr val="596C64"/>
                </a:solidFill>
              </a:defRPr>
            </a:lvl4pPr>
            <a:lvl5pPr>
              <a:defRPr sz="1875" b="0">
                <a:solidFill>
                  <a:srgbClr val="596C64"/>
                </a:solidFill>
              </a:defRPr>
            </a:lvl5pPr>
            <a:lvl6pPr>
              <a:defRPr sz="1875" b="0">
                <a:solidFill>
                  <a:srgbClr val="596C64"/>
                </a:solidFill>
              </a:defRPr>
            </a:lvl6pPr>
            <a:lvl7pPr>
              <a:defRPr sz="1875" b="0">
                <a:solidFill>
                  <a:srgbClr val="596C64"/>
                </a:solidFill>
              </a:defRPr>
            </a:lvl7pPr>
            <a:lvl8pPr>
              <a:defRPr sz="1875" b="0">
                <a:solidFill>
                  <a:srgbClr val="596C64"/>
                </a:solidFill>
              </a:defRPr>
            </a:lvl8pPr>
            <a:lvl9pPr>
              <a:defRPr sz="1875" b="0">
                <a:solidFill>
                  <a:srgbClr val="596C64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6C64"/>
                </a:solidFill>
              </a:defRPr>
            </a:pPr>
            <a:r>
              <a:rPr sz="1875" b="0">
                <a:solidFill>
                  <a:srgbClr val="596C64"/>
                </a:solidFill>
              </a:rPr>
              <a:t>Current score · HIGH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26473-3A15-415D-A35D-8986098D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850" b="1">
                <a:solidFill>
                  <a:srgbClr val="173E35"/>
                </a:solidFill>
              </a:defRPr>
            </a:defPPr>
            <a:lvl1pPr>
              <a:defRPr sz="5850" b="1">
                <a:solidFill>
                  <a:srgbClr val="173E35"/>
                </a:solidFill>
              </a:defRPr>
            </a:lvl1pPr>
            <a:lvl2pPr>
              <a:defRPr sz="5850" b="1">
                <a:solidFill>
                  <a:srgbClr val="173E35"/>
                </a:solidFill>
              </a:defRPr>
            </a:lvl2pPr>
            <a:lvl3pPr>
              <a:defRPr sz="5850" b="1">
                <a:solidFill>
                  <a:srgbClr val="173E35"/>
                </a:solidFill>
              </a:defRPr>
            </a:lvl3pPr>
            <a:lvl4pPr>
              <a:defRPr sz="5850" b="1">
                <a:solidFill>
                  <a:srgbClr val="173E35"/>
                </a:solidFill>
              </a:defRPr>
            </a:lvl4pPr>
            <a:lvl5pPr>
              <a:defRPr sz="5850" b="1">
                <a:solidFill>
                  <a:srgbClr val="173E35"/>
                </a:solidFill>
              </a:defRPr>
            </a:lvl5pPr>
            <a:lvl6pPr>
              <a:defRPr sz="5850" b="1">
                <a:solidFill>
                  <a:srgbClr val="173E35"/>
                </a:solidFill>
              </a:defRPr>
            </a:lvl6pPr>
            <a:lvl7pPr>
              <a:defRPr sz="5850" b="1">
                <a:solidFill>
                  <a:srgbClr val="173E35"/>
                </a:solidFill>
              </a:defRPr>
            </a:lvl7pPr>
            <a:lvl8pPr>
              <a:defRPr sz="5850" b="1">
                <a:solidFill>
                  <a:srgbClr val="173E35"/>
                </a:solidFill>
              </a:defRPr>
            </a:lvl8pPr>
            <a:lvl9pPr>
              <a:defRPr sz="5850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173E35"/>
                </a:solidFill>
              </a:defRPr>
            </a:pPr>
            <a:r>
              <a:rPr sz="5850" b="1">
                <a:solidFill>
                  <a:srgbClr val="173E35"/>
                </a:solidFill>
              </a:rPr>
              <a:t>44.1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26C61-4A58-47FE-8E0A-C5A5BF2C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435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96C64"/>
                </a:solidFill>
              </a:defRPr>
            </a:defPPr>
            <a:lvl1pPr>
              <a:defRPr sz="1875" b="0">
                <a:solidFill>
                  <a:srgbClr val="596C64"/>
                </a:solidFill>
              </a:defRPr>
            </a:lvl1pPr>
            <a:lvl2pPr>
              <a:defRPr sz="1875" b="0">
                <a:solidFill>
                  <a:srgbClr val="596C64"/>
                </a:solidFill>
              </a:defRPr>
            </a:lvl2pPr>
            <a:lvl3pPr>
              <a:defRPr sz="1875" b="0">
                <a:solidFill>
                  <a:srgbClr val="596C64"/>
                </a:solidFill>
              </a:defRPr>
            </a:lvl3pPr>
            <a:lvl4pPr>
              <a:defRPr sz="1875" b="0">
                <a:solidFill>
                  <a:srgbClr val="596C64"/>
                </a:solidFill>
              </a:defRPr>
            </a:lvl4pPr>
            <a:lvl5pPr>
              <a:defRPr sz="1875" b="0">
                <a:solidFill>
                  <a:srgbClr val="596C64"/>
                </a:solidFill>
              </a:defRPr>
            </a:lvl5pPr>
            <a:lvl6pPr>
              <a:defRPr sz="1875" b="0">
                <a:solidFill>
                  <a:srgbClr val="596C64"/>
                </a:solidFill>
              </a:defRPr>
            </a:lvl6pPr>
            <a:lvl7pPr>
              <a:defRPr sz="1875" b="0">
                <a:solidFill>
                  <a:srgbClr val="596C64"/>
                </a:solidFill>
              </a:defRPr>
            </a:lvl7pPr>
            <a:lvl8pPr>
              <a:defRPr sz="1875" b="0">
                <a:solidFill>
                  <a:srgbClr val="596C64"/>
                </a:solidFill>
              </a:defRPr>
            </a:lvl8pPr>
            <a:lvl9pPr>
              <a:defRPr sz="1875" b="0">
                <a:solidFill>
                  <a:srgbClr val="596C64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6C64"/>
                </a:solidFill>
              </a:defRPr>
            </a:pPr>
            <a:r>
              <a:rPr sz="1875" b="0">
                <a:solidFill>
                  <a:srgbClr val="596C64"/>
                </a:solidFill>
              </a:rPr>
              <a:t>Scenario score · MODERATE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38F8C-C240-4818-AF5D-5C4B2817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96C64"/>
                </a:solidFill>
              </a:defRPr>
            </a:defPPr>
            <a:lvl1pPr>
              <a:defRPr sz="1650" b="0">
                <a:solidFill>
                  <a:srgbClr val="596C64"/>
                </a:solidFill>
              </a:defRPr>
            </a:lvl1pPr>
            <a:lvl2pPr>
              <a:defRPr sz="1650" b="0">
                <a:solidFill>
                  <a:srgbClr val="596C64"/>
                </a:solidFill>
              </a:defRPr>
            </a:lvl2pPr>
            <a:lvl3pPr>
              <a:defRPr sz="1650" b="0">
                <a:solidFill>
                  <a:srgbClr val="596C64"/>
                </a:solidFill>
              </a:defRPr>
            </a:lvl3pPr>
            <a:lvl4pPr>
              <a:defRPr sz="1650" b="0">
                <a:solidFill>
                  <a:srgbClr val="596C64"/>
                </a:solidFill>
              </a:defRPr>
            </a:lvl4pPr>
            <a:lvl5pPr>
              <a:defRPr sz="1650" b="0">
                <a:solidFill>
                  <a:srgbClr val="596C64"/>
                </a:solidFill>
              </a:defRPr>
            </a:lvl5pPr>
            <a:lvl6pPr>
              <a:defRPr sz="1650" b="0">
                <a:solidFill>
                  <a:srgbClr val="596C64"/>
                </a:solidFill>
              </a:defRPr>
            </a:lvl6pPr>
            <a:lvl7pPr>
              <a:defRPr sz="1650" b="0">
                <a:solidFill>
                  <a:srgbClr val="596C64"/>
                </a:solidFill>
              </a:defRPr>
            </a:lvl7pPr>
            <a:lvl8pPr>
              <a:defRPr sz="1650" b="0">
                <a:solidFill>
                  <a:srgbClr val="596C64"/>
                </a:solidFill>
              </a:defRPr>
            </a:lvl8pPr>
            <a:lvl9pPr>
              <a:defRPr sz="1650" b="0">
                <a:solidFill>
                  <a:srgbClr val="596C6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C64"/>
                </a:solidFill>
              </a:defRPr>
            </a:pPr>
            <a:r>
              <a:rPr sz="1650" b="0">
                <a:solidFill>
                  <a:srgbClr val="596C64"/>
                </a:solidFill>
              </a:rPr>
              <a:t>Illustrative score recomputation. The scenario is not a forecast or a recorded recovery.</a:t>
            </a:r>
          </a:p>
        </p:txBody>
      </p:sp>
    </p:spTree>
    <p:extLst>
      <p:ext uri="{BB962C8B-B14F-4D97-AF65-F5344CB8AC3E}">
        <p14:creationId xmlns:p14="http://schemas.microsoft.com/office/powerpoint/2010/main" val="11672720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2D81F-2D06-4166-9C33-B1777D5E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3E35"/>
                </a:solidFill>
              </a:defRPr>
            </a:defPPr>
            <a:lvl1pPr>
              <a:defRPr sz="1425" b="1">
                <a:solidFill>
                  <a:srgbClr val="173E35"/>
                </a:solidFill>
              </a:defRPr>
            </a:lvl1pPr>
            <a:lvl2pPr>
              <a:defRPr sz="1425" b="1">
                <a:solidFill>
                  <a:srgbClr val="173E35"/>
                </a:solidFill>
              </a:defRPr>
            </a:lvl2pPr>
            <a:lvl3pPr>
              <a:defRPr sz="1425" b="1">
                <a:solidFill>
                  <a:srgbClr val="173E35"/>
                </a:solidFill>
              </a:defRPr>
            </a:lvl3pPr>
            <a:lvl4pPr>
              <a:defRPr sz="1425" b="1">
                <a:solidFill>
                  <a:srgbClr val="173E35"/>
                </a:solidFill>
              </a:defRPr>
            </a:lvl4pPr>
            <a:lvl5pPr>
              <a:defRPr sz="1425" b="1">
                <a:solidFill>
                  <a:srgbClr val="173E35"/>
                </a:solidFill>
              </a:defRPr>
            </a:lvl5pPr>
            <a:lvl6pPr>
              <a:defRPr sz="1425" b="1">
                <a:solidFill>
                  <a:srgbClr val="173E35"/>
                </a:solidFill>
              </a:defRPr>
            </a:lvl6pPr>
            <a:lvl7pPr>
              <a:defRPr sz="1425" b="1">
                <a:solidFill>
                  <a:srgbClr val="173E35"/>
                </a:solidFill>
              </a:defRPr>
            </a:lvl7pPr>
            <a:lvl8pPr>
              <a:defRPr sz="1425" b="1">
                <a:solidFill>
                  <a:srgbClr val="173E35"/>
                </a:solidFill>
              </a:defRPr>
            </a:lvl8pPr>
            <a:lvl9pPr>
              <a:defRPr sz="1425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3E35"/>
                </a:solidFill>
              </a:defRPr>
            </a:pPr>
            <a:r>
              <a:rPr sz="1425" b="1">
                <a:solidFill>
                  <a:srgbClr val="173E35"/>
                </a:solidFill>
              </a:rPr>
              <a:t>RuralLens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20CBC-45C0-4B1E-8C04-ECF65B61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6C64"/>
                </a:solidFill>
              </a:defRPr>
            </a:defPPr>
            <a:lvl1pPr>
              <a:defRPr sz="1125" b="0">
                <a:solidFill>
                  <a:srgbClr val="596C64"/>
                </a:solidFill>
              </a:defRPr>
            </a:lvl1pPr>
            <a:lvl2pPr>
              <a:defRPr sz="1125" b="0">
                <a:solidFill>
                  <a:srgbClr val="596C64"/>
                </a:solidFill>
              </a:defRPr>
            </a:lvl2pPr>
            <a:lvl3pPr>
              <a:defRPr sz="1125" b="0">
                <a:solidFill>
                  <a:srgbClr val="596C64"/>
                </a:solidFill>
              </a:defRPr>
            </a:lvl3pPr>
            <a:lvl4pPr>
              <a:defRPr sz="1125" b="0">
                <a:solidFill>
                  <a:srgbClr val="596C64"/>
                </a:solidFill>
              </a:defRPr>
            </a:lvl4pPr>
            <a:lvl5pPr>
              <a:defRPr sz="1125" b="0">
                <a:solidFill>
                  <a:srgbClr val="596C64"/>
                </a:solidFill>
              </a:defRPr>
            </a:lvl5pPr>
            <a:lvl6pPr>
              <a:defRPr sz="1125" b="0">
                <a:solidFill>
                  <a:srgbClr val="596C64"/>
                </a:solidFill>
              </a:defRPr>
            </a:lvl6pPr>
            <a:lvl7pPr>
              <a:defRPr sz="1125" b="0">
                <a:solidFill>
                  <a:srgbClr val="596C64"/>
                </a:solidFill>
              </a:defRPr>
            </a:lvl7pPr>
            <a:lvl8pPr>
              <a:defRPr sz="1125" b="0">
                <a:solidFill>
                  <a:srgbClr val="596C64"/>
                </a:solidFill>
              </a:defRPr>
            </a:lvl8pPr>
            <a:lvl9pPr>
              <a:defRPr sz="1125" b="0">
                <a:solidFill>
                  <a:srgbClr val="596C6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96C64"/>
                </a:solidFill>
              </a:defRPr>
            </a:pPr>
            <a:r>
              <a:rPr sz="1125" b="0">
                <a:solidFill>
                  <a:srgbClr val="596C64"/>
                </a:solidFill>
              </a:rPr>
              <a:t>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BAB08-BB37-44D0-9636-B67C23B9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E35"/>
                </a:solidFill>
              </a:defRPr>
            </a:defPPr>
            <a:lvl1pPr>
              <a:defRPr sz="3450" b="1">
                <a:solidFill>
                  <a:srgbClr val="173E35"/>
                </a:solidFill>
              </a:defRPr>
            </a:lvl1pPr>
            <a:lvl2pPr>
              <a:defRPr sz="3450" b="1">
                <a:solidFill>
                  <a:srgbClr val="173E35"/>
                </a:solidFill>
              </a:defRPr>
            </a:lvl2pPr>
            <a:lvl3pPr>
              <a:defRPr sz="3450" b="1">
                <a:solidFill>
                  <a:srgbClr val="173E35"/>
                </a:solidFill>
              </a:defRPr>
            </a:lvl3pPr>
            <a:lvl4pPr>
              <a:defRPr sz="3450" b="1">
                <a:solidFill>
                  <a:srgbClr val="173E35"/>
                </a:solidFill>
              </a:defRPr>
            </a:lvl4pPr>
            <a:lvl5pPr>
              <a:defRPr sz="3450" b="1">
                <a:solidFill>
                  <a:srgbClr val="173E35"/>
                </a:solidFill>
              </a:defRPr>
            </a:lvl5pPr>
            <a:lvl6pPr>
              <a:defRPr sz="3450" b="1">
                <a:solidFill>
                  <a:srgbClr val="173E35"/>
                </a:solidFill>
              </a:defRPr>
            </a:lvl6pPr>
            <a:lvl7pPr>
              <a:defRPr sz="3450" b="1">
                <a:solidFill>
                  <a:srgbClr val="173E35"/>
                </a:solidFill>
              </a:defRPr>
            </a:lvl7pPr>
            <a:lvl8pPr>
              <a:defRPr sz="3450" b="1">
                <a:solidFill>
                  <a:srgbClr val="173E35"/>
                </a:solidFill>
              </a:defRPr>
            </a:lvl8pPr>
            <a:lvl9pPr>
              <a:defRPr sz="3450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E35"/>
                </a:solidFill>
              </a:defRPr>
            </a:pPr>
            <a:r>
              <a:rPr sz="3450" b="1">
                <a:solidFill>
                  <a:srgbClr val="173E35"/>
                </a:solidFill>
              </a:rPr>
              <a:t>Every intervention has an accountable owner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3F1AC-92E8-4373-9E29-E393E2D2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6C64"/>
                </a:solidFill>
              </a:defRPr>
            </a:defPPr>
            <a:lvl1pPr>
              <a:defRPr sz="1125" b="0">
                <a:solidFill>
                  <a:srgbClr val="596C64"/>
                </a:solidFill>
              </a:defRPr>
            </a:lvl1pPr>
            <a:lvl2pPr>
              <a:defRPr sz="1125" b="0">
                <a:solidFill>
                  <a:srgbClr val="596C64"/>
                </a:solidFill>
              </a:defRPr>
            </a:lvl2pPr>
            <a:lvl3pPr>
              <a:defRPr sz="1125" b="0">
                <a:solidFill>
                  <a:srgbClr val="596C64"/>
                </a:solidFill>
              </a:defRPr>
            </a:lvl3pPr>
            <a:lvl4pPr>
              <a:defRPr sz="1125" b="0">
                <a:solidFill>
                  <a:srgbClr val="596C64"/>
                </a:solidFill>
              </a:defRPr>
            </a:lvl4pPr>
            <a:lvl5pPr>
              <a:defRPr sz="1125" b="0">
                <a:solidFill>
                  <a:srgbClr val="596C64"/>
                </a:solidFill>
              </a:defRPr>
            </a:lvl5pPr>
            <a:lvl6pPr>
              <a:defRPr sz="1125" b="0">
                <a:solidFill>
                  <a:srgbClr val="596C64"/>
                </a:solidFill>
              </a:defRPr>
            </a:lvl6pPr>
            <a:lvl7pPr>
              <a:defRPr sz="1125" b="0">
                <a:solidFill>
                  <a:srgbClr val="596C64"/>
                </a:solidFill>
              </a:defRPr>
            </a:lvl7pPr>
            <a:lvl8pPr>
              <a:defRPr sz="1125" b="0">
                <a:solidFill>
                  <a:srgbClr val="596C64"/>
                </a:solidFill>
              </a:defRPr>
            </a:lvl8pPr>
            <a:lvl9pPr>
              <a:defRPr sz="1125" b="0">
                <a:solidFill>
                  <a:srgbClr val="596C6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96C64"/>
                </a:solidFill>
              </a:defRPr>
            </a:pPr>
            <a:r>
              <a:rPr sz="1125" b="0">
                <a:solidFill>
                  <a:srgbClr val="596C64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0E0E3-4940-4824-A348-B56A6569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E35"/>
                </a:solidFill>
              </a:defRPr>
            </a:defPPr>
            <a:lvl1pPr>
              <a:defRPr sz="2250" b="1">
                <a:solidFill>
                  <a:srgbClr val="173E35"/>
                </a:solidFill>
              </a:defRPr>
            </a:lvl1pPr>
            <a:lvl2pPr>
              <a:defRPr sz="2250" b="1">
                <a:solidFill>
                  <a:srgbClr val="173E35"/>
                </a:solidFill>
              </a:defRPr>
            </a:lvl2pPr>
            <a:lvl3pPr>
              <a:defRPr sz="2250" b="1">
                <a:solidFill>
                  <a:srgbClr val="173E35"/>
                </a:solidFill>
              </a:defRPr>
            </a:lvl3pPr>
            <a:lvl4pPr>
              <a:defRPr sz="2250" b="1">
                <a:solidFill>
                  <a:srgbClr val="173E35"/>
                </a:solidFill>
              </a:defRPr>
            </a:lvl4pPr>
            <a:lvl5pPr>
              <a:defRPr sz="2250" b="1">
                <a:solidFill>
                  <a:srgbClr val="173E35"/>
                </a:solidFill>
              </a:defRPr>
            </a:lvl5pPr>
            <a:lvl6pPr>
              <a:defRPr sz="2250" b="1">
                <a:solidFill>
                  <a:srgbClr val="173E35"/>
                </a:solidFill>
              </a:defRPr>
            </a:lvl6pPr>
            <a:lvl7pPr>
              <a:defRPr sz="2250" b="1">
                <a:solidFill>
                  <a:srgbClr val="173E35"/>
                </a:solidFill>
              </a:defRPr>
            </a:lvl7pPr>
            <a:lvl8pPr>
              <a:defRPr sz="2250" b="1">
                <a:solidFill>
                  <a:srgbClr val="173E35"/>
                </a:solidFill>
              </a:defRPr>
            </a:lvl8pPr>
            <a:lvl9pPr>
              <a:defRPr sz="2250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3E35"/>
                </a:solidFill>
              </a:defRPr>
            </a:pPr>
            <a:r>
              <a:rPr sz="2250" b="1">
                <a:solidFill>
                  <a:srgbClr val="173E35"/>
                </a:solidFill>
              </a:rPr>
              <a:t>CXO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D0949-111E-495C-BF0B-41CFD37D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05075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96C64"/>
                </a:solidFill>
              </a:defRPr>
            </a:defPPr>
            <a:lvl1pPr>
              <a:defRPr sz="2100" b="0">
                <a:solidFill>
                  <a:srgbClr val="596C64"/>
                </a:solidFill>
              </a:defRPr>
            </a:lvl1pPr>
            <a:lvl2pPr>
              <a:defRPr sz="2100" b="0">
                <a:solidFill>
                  <a:srgbClr val="596C64"/>
                </a:solidFill>
              </a:defRPr>
            </a:lvl2pPr>
            <a:lvl3pPr>
              <a:defRPr sz="2100" b="0">
                <a:solidFill>
                  <a:srgbClr val="596C64"/>
                </a:solidFill>
              </a:defRPr>
            </a:lvl3pPr>
            <a:lvl4pPr>
              <a:defRPr sz="2100" b="0">
                <a:solidFill>
                  <a:srgbClr val="596C64"/>
                </a:solidFill>
              </a:defRPr>
            </a:lvl4pPr>
            <a:lvl5pPr>
              <a:defRPr sz="2100" b="0">
                <a:solidFill>
                  <a:srgbClr val="596C64"/>
                </a:solidFill>
              </a:defRPr>
            </a:lvl5pPr>
            <a:lvl6pPr>
              <a:defRPr sz="2100" b="0">
                <a:solidFill>
                  <a:srgbClr val="596C64"/>
                </a:solidFill>
              </a:defRPr>
            </a:lvl6pPr>
            <a:lvl7pPr>
              <a:defRPr sz="2100" b="0">
                <a:solidFill>
                  <a:srgbClr val="596C64"/>
                </a:solidFill>
              </a:defRPr>
            </a:lvl7pPr>
            <a:lvl8pPr>
              <a:defRPr sz="2100" b="0">
                <a:solidFill>
                  <a:srgbClr val="596C64"/>
                </a:solidFill>
              </a:defRPr>
            </a:lvl8pPr>
            <a:lvl9pPr>
              <a:defRPr sz="2100" b="0">
                <a:solidFill>
                  <a:srgbClr val="596C6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96C64"/>
                </a:solidFill>
              </a:defRPr>
            </a:pPr>
            <a:r>
              <a:rPr sz="2100" b="0">
                <a:solidFill>
                  <a:srgbClr val="596C64"/>
                </a:solidFill>
              </a:rPr>
              <a:t>Selects the priority borrower and assigns a team.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5894E-7B43-4C7E-BE3D-1A6D67B7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E35"/>
                </a:solidFill>
              </a:defRPr>
            </a:defPPr>
            <a:lvl1pPr>
              <a:defRPr sz="2250" b="1">
                <a:solidFill>
                  <a:srgbClr val="173E35"/>
                </a:solidFill>
              </a:defRPr>
            </a:lvl1pPr>
            <a:lvl2pPr>
              <a:defRPr sz="2250" b="1">
                <a:solidFill>
                  <a:srgbClr val="173E35"/>
                </a:solidFill>
              </a:defRPr>
            </a:lvl2pPr>
            <a:lvl3pPr>
              <a:defRPr sz="2250" b="1">
                <a:solidFill>
                  <a:srgbClr val="173E35"/>
                </a:solidFill>
              </a:defRPr>
            </a:lvl3pPr>
            <a:lvl4pPr>
              <a:defRPr sz="2250" b="1">
                <a:solidFill>
                  <a:srgbClr val="173E35"/>
                </a:solidFill>
              </a:defRPr>
            </a:lvl4pPr>
            <a:lvl5pPr>
              <a:defRPr sz="2250" b="1">
                <a:solidFill>
                  <a:srgbClr val="173E35"/>
                </a:solidFill>
              </a:defRPr>
            </a:lvl5pPr>
            <a:lvl6pPr>
              <a:defRPr sz="2250" b="1">
                <a:solidFill>
                  <a:srgbClr val="173E35"/>
                </a:solidFill>
              </a:defRPr>
            </a:lvl6pPr>
            <a:lvl7pPr>
              <a:defRPr sz="2250" b="1">
                <a:solidFill>
                  <a:srgbClr val="173E35"/>
                </a:solidFill>
              </a:defRPr>
            </a:lvl7pPr>
            <a:lvl8pPr>
              <a:defRPr sz="2250" b="1">
                <a:solidFill>
                  <a:srgbClr val="173E35"/>
                </a:solidFill>
              </a:defRPr>
            </a:lvl8pPr>
            <a:lvl9pPr>
              <a:defRPr sz="2250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3E35"/>
                </a:solidFill>
              </a:defRPr>
            </a:pPr>
            <a:r>
              <a:rPr sz="2250" b="1">
                <a:solidFill>
                  <a:srgbClr val="173E35"/>
                </a:solidFill>
              </a:rPr>
              <a:t>Department 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C697E-18DE-4D28-B7F1-F0061FB9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52825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96C64"/>
                </a:solidFill>
              </a:defRPr>
            </a:defPPr>
            <a:lvl1pPr>
              <a:defRPr sz="2100" b="0">
                <a:solidFill>
                  <a:srgbClr val="596C64"/>
                </a:solidFill>
              </a:defRPr>
            </a:lvl1pPr>
            <a:lvl2pPr>
              <a:defRPr sz="2100" b="0">
                <a:solidFill>
                  <a:srgbClr val="596C64"/>
                </a:solidFill>
              </a:defRPr>
            </a:lvl2pPr>
            <a:lvl3pPr>
              <a:defRPr sz="2100" b="0">
                <a:solidFill>
                  <a:srgbClr val="596C64"/>
                </a:solidFill>
              </a:defRPr>
            </a:lvl3pPr>
            <a:lvl4pPr>
              <a:defRPr sz="2100" b="0">
                <a:solidFill>
                  <a:srgbClr val="596C64"/>
                </a:solidFill>
              </a:defRPr>
            </a:lvl4pPr>
            <a:lvl5pPr>
              <a:defRPr sz="2100" b="0">
                <a:solidFill>
                  <a:srgbClr val="596C64"/>
                </a:solidFill>
              </a:defRPr>
            </a:lvl5pPr>
            <a:lvl6pPr>
              <a:defRPr sz="2100" b="0">
                <a:solidFill>
                  <a:srgbClr val="596C64"/>
                </a:solidFill>
              </a:defRPr>
            </a:lvl6pPr>
            <a:lvl7pPr>
              <a:defRPr sz="2100" b="0">
                <a:solidFill>
                  <a:srgbClr val="596C64"/>
                </a:solidFill>
              </a:defRPr>
            </a:lvl7pPr>
            <a:lvl8pPr>
              <a:defRPr sz="2100" b="0">
                <a:solidFill>
                  <a:srgbClr val="596C64"/>
                </a:solidFill>
              </a:defRPr>
            </a:lvl8pPr>
            <a:lvl9pPr>
              <a:defRPr sz="2100" b="0">
                <a:solidFill>
                  <a:srgbClr val="596C6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96C64"/>
                </a:solidFill>
              </a:defRPr>
            </a:pPr>
            <a:r>
              <a:rPr sz="2100" b="0">
                <a:solidFill>
                  <a:srgbClr val="596C64"/>
                </a:solidFill>
              </a:rPr>
              <a:t>Allocates the task to an active member of that team.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8FBD8-8DB1-42DF-955F-650F2D5D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E35"/>
                </a:solidFill>
              </a:defRPr>
            </a:defPPr>
            <a:lvl1pPr>
              <a:defRPr sz="2250" b="1">
                <a:solidFill>
                  <a:srgbClr val="173E35"/>
                </a:solidFill>
              </a:defRPr>
            </a:lvl1pPr>
            <a:lvl2pPr>
              <a:defRPr sz="2250" b="1">
                <a:solidFill>
                  <a:srgbClr val="173E35"/>
                </a:solidFill>
              </a:defRPr>
            </a:lvl2pPr>
            <a:lvl3pPr>
              <a:defRPr sz="2250" b="1">
                <a:solidFill>
                  <a:srgbClr val="173E35"/>
                </a:solidFill>
              </a:defRPr>
            </a:lvl3pPr>
            <a:lvl4pPr>
              <a:defRPr sz="2250" b="1">
                <a:solidFill>
                  <a:srgbClr val="173E35"/>
                </a:solidFill>
              </a:defRPr>
            </a:lvl4pPr>
            <a:lvl5pPr>
              <a:defRPr sz="2250" b="1">
                <a:solidFill>
                  <a:srgbClr val="173E35"/>
                </a:solidFill>
              </a:defRPr>
            </a:lvl5pPr>
            <a:lvl6pPr>
              <a:defRPr sz="2250" b="1">
                <a:solidFill>
                  <a:srgbClr val="173E35"/>
                </a:solidFill>
              </a:defRPr>
            </a:lvl6pPr>
            <a:lvl7pPr>
              <a:defRPr sz="2250" b="1">
                <a:solidFill>
                  <a:srgbClr val="173E35"/>
                </a:solidFill>
              </a:defRPr>
            </a:lvl7pPr>
            <a:lvl8pPr>
              <a:defRPr sz="2250" b="1">
                <a:solidFill>
                  <a:srgbClr val="173E35"/>
                </a:solidFill>
              </a:defRPr>
            </a:lvl8pPr>
            <a:lvl9pPr>
              <a:defRPr sz="2250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3E35"/>
                </a:solidFill>
              </a:defRPr>
            </a:pPr>
            <a:r>
              <a:rPr sz="2250" b="1">
                <a:solidFill>
                  <a:srgbClr val="173E35"/>
                </a:solidFill>
              </a:rPr>
              <a:t>Assigned member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FC9EE-6BEF-49F5-BFF9-C638AE8F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00575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96C64"/>
                </a:solidFill>
              </a:defRPr>
            </a:defPPr>
            <a:lvl1pPr>
              <a:defRPr sz="2100" b="0">
                <a:solidFill>
                  <a:srgbClr val="596C64"/>
                </a:solidFill>
              </a:defRPr>
            </a:lvl1pPr>
            <a:lvl2pPr>
              <a:defRPr sz="2100" b="0">
                <a:solidFill>
                  <a:srgbClr val="596C64"/>
                </a:solidFill>
              </a:defRPr>
            </a:lvl2pPr>
            <a:lvl3pPr>
              <a:defRPr sz="2100" b="0">
                <a:solidFill>
                  <a:srgbClr val="596C64"/>
                </a:solidFill>
              </a:defRPr>
            </a:lvl3pPr>
            <a:lvl4pPr>
              <a:defRPr sz="2100" b="0">
                <a:solidFill>
                  <a:srgbClr val="596C64"/>
                </a:solidFill>
              </a:defRPr>
            </a:lvl4pPr>
            <a:lvl5pPr>
              <a:defRPr sz="2100" b="0">
                <a:solidFill>
                  <a:srgbClr val="596C64"/>
                </a:solidFill>
              </a:defRPr>
            </a:lvl5pPr>
            <a:lvl6pPr>
              <a:defRPr sz="2100" b="0">
                <a:solidFill>
                  <a:srgbClr val="596C64"/>
                </a:solidFill>
              </a:defRPr>
            </a:lvl6pPr>
            <a:lvl7pPr>
              <a:defRPr sz="2100" b="0">
                <a:solidFill>
                  <a:srgbClr val="596C64"/>
                </a:solidFill>
              </a:defRPr>
            </a:lvl7pPr>
            <a:lvl8pPr>
              <a:defRPr sz="2100" b="0">
                <a:solidFill>
                  <a:srgbClr val="596C64"/>
                </a:solidFill>
              </a:defRPr>
            </a:lvl8pPr>
            <a:lvl9pPr>
              <a:defRPr sz="2100" b="0">
                <a:solidFill>
                  <a:srgbClr val="596C6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96C64"/>
                </a:solidFill>
              </a:defRPr>
            </a:pPr>
            <a:r>
              <a:rPr sz="2100" b="0">
                <a:solidFill>
                  <a:srgbClr val="596C64"/>
                </a:solidFill>
              </a:rPr>
              <a:t>Submits completion details and finishes the task.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F9E550-8066-4826-9A4B-3CB5A461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E35"/>
                </a:solidFill>
              </a:defRPr>
            </a:defPPr>
            <a:lvl1pPr>
              <a:defRPr sz="1950" b="0">
                <a:solidFill>
                  <a:srgbClr val="173E35"/>
                </a:solidFill>
              </a:defRPr>
            </a:lvl1pPr>
            <a:lvl2pPr>
              <a:defRPr sz="1950" b="0">
                <a:solidFill>
                  <a:srgbClr val="173E35"/>
                </a:solidFill>
              </a:defRPr>
            </a:lvl2pPr>
            <a:lvl3pPr>
              <a:defRPr sz="1950" b="0">
                <a:solidFill>
                  <a:srgbClr val="173E35"/>
                </a:solidFill>
              </a:defRPr>
            </a:lvl3pPr>
            <a:lvl4pPr>
              <a:defRPr sz="1950" b="0">
                <a:solidFill>
                  <a:srgbClr val="173E35"/>
                </a:solidFill>
              </a:defRPr>
            </a:lvl4pPr>
            <a:lvl5pPr>
              <a:defRPr sz="1950" b="0">
                <a:solidFill>
                  <a:srgbClr val="173E35"/>
                </a:solidFill>
              </a:defRPr>
            </a:lvl5pPr>
            <a:lvl6pPr>
              <a:defRPr sz="1950" b="0">
                <a:solidFill>
                  <a:srgbClr val="173E35"/>
                </a:solidFill>
              </a:defRPr>
            </a:lvl6pPr>
            <a:lvl7pPr>
              <a:defRPr sz="1950" b="0">
                <a:solidFill>
                  <a:srgbClr val="173E35"/>
                </a:solidFill>
              </a:defRPr>
            </a:lvl7pPr>
            <a:lvl8pPr>
              <a:defRPr sz="1950" b="0">
                <a:solidFill>
                  <a:srgbClr val="173E35"/>
                </a:solidFill>
              </a:defRPr>
            </a:lvl8pPr>
            <a:lvl9pPr>
              <a:defRPr sz="1950" b="0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E35"/>
                </a:solidFill>
              </a:defRPr>
            </a:pPr>
            <a:r>
              <a:rPr sz="1950" b="0">
                <a:solidFill>
                  <a:srgbClr val="173E35"/>
                </a:solidFill>
              </a:rPr>
              <a:t>Leadership can review status, dated activity and turnaround time across teams.</a:t>
            </a:r>
          </a:p>
        </p:txBody>
      </p:sp>
    </p:spTree>
    <p:extLst>
      <p:ext uri="{BB962C8B-B14F-4D97-AF65-F5344CB8AC3E}">
        <p14:creationId xmlns:p14="http://schemas.microsoft.com/office/powerpoint/2010/main" val="11468043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E8057-CABF-4365-8112-BE11F9DF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3E35"/>
                </a:solidFill>
              </a:defRPr>
            </a:defPPr>
            <a:lvl1pPr>
              <a:defRPr sz="1425" b="1">
                <a:solidFill>
                  <a:srgbClr val="173E35"/>
                </a:solidFill>
              </a:defRPr>
            </a:lvl1pPr>
            <a:lvl2pPr>
              <a:defRPr sz="1425" b="1">
                <a:solidFill>
                  <a:srgbClr val="173E35"/>
                </a:solidFill>
              </a:defRPr>
            </a:lvl2pPr>
            <a:lvl3pPr>
              <a:defRPr sz="1425" b="1">
                <a:solidFill>
                  <a:srgbClr val="173E35"/>
                </a:solidFill>
              </a:defRPr>
            </a:lvl3pPr>
            <a:lvl4pPr>
              <a:defRPr sz="1425" b="1">
                <a:solidFill>
                  <a:srgbClr val="173E35"/>
                </a:solidFill>
              </a:defRPr>
            </a:lvl4pPr>
            <a:lvl5pPr>
              <a:defRPr sz="1425" b="1">
                <a:solidFill>
                  <a:srgbClr val="173E35"/>
                </a:solidFill>
              </a:defRPr>
            </a:lvl5pPr>
            <a:lvl6pPr>
              <a:defRPr sz="1425" b="1">
                <a:solidFill>
                  <a:srgbClr val="173E35"/>
                </a:solidFill>
              </a:defRPr>
            </a:lvl6pPr>
            <a:lvl7pPr>
              <a:defRPr sz="1425" b="1">
                <a:solidFill>
                  <a:srgbClr val="173E35"/>
                </a:solidFill>
              </a:defRPr>
            </a:lvl7pPr>
            <a:lvl8pPr>
              <a:defRPr sz="1425" b="1">
                <a:solidFill>
                  <a:srgbClr val="173E35"/>
                </a:solidFill>
              </a:defRPr>
            </a:lvl8pPr>
            <a:lvl9pPr>
              <a:defRPr sz="1425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3E35"/>
                </a:solidFill>
              </a:defRPr>
            </a:pPr>
            <a:r>
              <a:rPr sz="1425" b="1">
                <a:solidFill>
                  <a:srgbClr val="173E35"/>
                </a:solidFill>
              </a:rPr>
              <a:t>RuralLens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C3161-AFD5-4F1F-B846-31131E1C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6C64"/>
                </a:solidFill>
              </a:defRPr>
            </a:defPPr>
            <a:lvl1pPr>
              <a:defRPr sz="1125" b="0">
                <a:solidFill>
                  <a:srgbClr val="596C64"/>
                </a:solidFill>
              </a:defRPr>
            </a:lvl1pPr>
            <a:lvl2pPr>
              <a:defRPr sz="1125" b="0">
                <a:solidFill>
                  <a:srgbClr val="596C64"/>
                </a:solidFill>
              </a:defRPr>
            </a:lvl2pPr>
            <a:lvl3pPr>
              <a:defRPr sz="1125" b="0">
                <a:solidFill>
                  <a:srgbClr val="596C64"/>
                </a:solidFill>
              </a:defRPr>
            </a:lvl3pPr>
            <a:lvl4pPr>
              <a:defRPr sz="1125" b="0">
                <a:solidFill>
                  <a:srgbClr val="596C64"/>
                </a:solidFill>
              </a:defRPr>
            </a:lvl4pPr>
            <a:lvl5pPr>
              <a:defRPr sz="1125" b="0">
                <a:solidFill>
                  <a:srgbClr val="596C64"/>
                </a:solidFill>
              </a:defRPr>
            </a:lvl5pPr>
            <a:lvl6pPr>
              <a:defRPr sz="1125" b="0">
                <a:solidFill>
                  <a:srgbClr val="596C64"/>
                </a:solidFill>
              </a:defRPr>
            </a:lvl6pPr>
            <a:lvl7pPr>
              <a:defRPr sz="1125" b="0">
                <a:solidFill>
                  <a:srgbClr val="596C64"/>
                </a:solidFill>
              </a:defRPr>
            </a:lvl7pPr>
            <a:lvl8pPr>
              <a:defRPr sz="1125" b="0">
                <a:solidFill>
                  <a:srgbClr val="596C64"/>
                </a:solidFill>
              </a:defRPr>
            </a:lvl8pPr>
            <a:lvl9pPr>
              <a:defRPr sz="1125" b="0">
                <a:solidFill>
                  <a:srgbClr val="596C6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96C64"/>
                </a:solidFill>
              </a:defRPr>
            </a:pPr>
            <a:r>
              <a:rPr sz="1125" b="0">
                <a:solidFill>
                  <a:srgbClr val="596C64"/>
                </a:solidFill>
              </a:rPr>
              <a:t>READINESS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369A9-70B4-461F-BB6E-30082386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E35"/>
                </a:solidFill>
              </a:defRPr>
            </a:defPPr>
            <a:lvl1pPr>
              <a:defRPr sz="3450" b="1">
                <a:solidFill>
                  <a:srgbClr val="173E35"/>
                </a:solidFill>
              </a:defRPr>
            </a:lvl1pPr>
            <a:lvl2pPr>
              <a:defRPr sz="3450" b="1">
                <a:solidFill>
                  <a:srgbClr val="173E35"/>
                </a:solidFill>
              </a:defRPr>
            </a:lvl2pPr>
            <a:lvl3pPr>
              <a:defRPr sz="3450" b="1">
                <a:solidFill>
                  <a:srgbClr val="173E35"/>
                </a:solidFill>
              </a:defRPr>
            </a:lvl3pPr>
            <a:lvl4pPr>
              <a:defRPr sz="3450" b="1">
                <a:solidFill>
                  <a:srgbClr val="173E35"/>
                </a:solidFill>
              </a:defRPr>
            </a:lvl4pPr>
            <a:lvl5pPr>
              <a:defRPr sz="3450" b="1">
                <a:solidFill>
                  <a:srgbClr val="173E35"/>
                </a:solidFill>
              </a:defRPr>
            </a:lvl5pPr>
            <a:lvl6pPr>
              <a:defRPr sz="3450" b="1">
                <a:solidFill>
                  <a:srgbClr val="173E35"/>
                </a:solidFill>
              </a:defRPr>
            </a:lvl6pPr>
            <a:lvl7pPr>
              <a:defRPr sz="3450" b="1">
                <a:solidFill>
                  <a:srgbClr val="173E35"/>
                </a:solidFill>
              </a:defRPr>
            </a:lvl7pPr>
            <a:lvl8pPr>
              <a:defRPr sz="3450" b="1">
                <a:solidFill>
                  <a:srgbClr val="173E35"/>
                </a:solidFill>
              </a:defRPr>
            </a:lvl8pPr>
            <a:lvl9pPr>
              <a:defRPr sz="3450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E35"/>
                </a:solidFill>
              </a:defRPr>
            </a:pPr>
            <a:r>
              <a:rPr sz="3450" b="1">
                <a:solidFill>
                  <a:srgbClr val="173E35"/>
                </a:solidFill>
              </a:rPr>
              <a:t>A working demo with a clear production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CB8FF-3FFC-4C96-93F2-80BEDCE3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6C64"/>
                </a:solidFill>
              </a:defRPr>
            </a:defPPr>
            <a:lvl1pPr>
              <a:defRPr sz="1125" b="0">
                <a:solidFill>
                  <a:srgbClr val="596C64"/>
                </a:solidFill>
              </a:defRPr>
            </a:lvl1pPr>
            <a:lvl2pPr>
              <a:defRPr sz="1125" b="0">
                <a:solidFill>
                  <a:srgbClr val="596C64"/>
                </a:solidFill>
              </a:defRPr>
            </a:lvl2pPr>
            <a:lvl3pPr>
              <a:defRPr sz="1125" b="0">
                <a:solidFill>
                  <a:srgbClr val="596C64"/>
                </a:solidFill>
              </a:defRPr>
            </a:lvl3pPr>
            <a:lvl4pPr>
              <a:defRPr sz="1125" b="0">
                <a:solidFill>
                  <a:srgbClr val="596C64"/>
                </a:solidFill>
              </a:defRPr>
            </a:lvl4pPr>
            <a:lvl5pPr>
              <a:defRPr sz="1125" b="0">
                <a:solidFill>
                  <a:srgbClr val="596C64"/>
                </a:solidFill>
              </a:defRPr>
            </a:lvl5pPr>
            <a:lvl6pPr>
              <a:defRPr sz="1125" b="0">
                <a:solidFill>
                  <a:srgbClr val="596C64"/>
                </a:solidFill>
              </a:defRPr>
            </a:lvl6pPr>
            <a:lvl7pPr>
              <a:defRPr sz="1125" b="0">
                <a:solidFill>
                  <a:srgbClr val="596C64"/>
                </a:solidFill>
              </a:defRPr>
            </a:lvl7pPr>
            <a:lvl8pPr>
              <a:defRPr sz="1125" b="0">
                <a:solidFill>
                  <a:srgbClr val="596C64"/>
                </a:solidFill>
              </a:defRPr>
            </a:lvl8pPr>
            <a:lvl9pPr>
              <a:defRPr sz="1125" b="0">
                <a:solidFill>
                  <a:srgbClr val="596C6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96C64"/>
                </a:solidFill>
              </a:defRPr>
            </a:pPr>
            <a:r>
              <a:rPr sz="1125" b="0">
                <a:solidFill>
                  <a:srgbClr val="596C64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B25AF-7C09-4E50-A314-8FAD9D4A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3E35"/>
                </a:solidFill>
              </a:defRPr>
            </a:defPPr>
            <a:lvl1pPr>
              <a:defRPr sz="2400" b="1">
                <a:solidFill>
                  <a:srgbClr val="173E35"/>
                </a:solidFill>
              </a:defRPr>
            </a:lvl1pPr>
            <a:lvl2pPr>
              <a:defRPr sz="2400" b="1">
                <a:solidFill>
                  <a:srgbClr val="173E35"/>
                </a:solidFill>
              </a:defRPr>
            </a:lvl2pPr>
            <a:lvl3pPr>
              <a:defRPr sz="2400" b="1">
                <a:solidFill>
                  <a:srgbClr val="173E35"/>
                </a:solidFill>
              </a:defRPr>
            </a:lvl3pPr>
            <a:lvl4pPr>
              <a:defRPr sz="2400" b="1">
                <a:solidFill>
                  <a:srgbClr val="173E35"/>
                </a:solidFill>
              </a:defRPr>
            </a:lvl4pPr>
            <a:lvl5pPr>
              <a:defRPr sz="2400" b="1">
                <a:solidFill>
                  <a:srgbClr val="173E35"/>
                </a:solidFill>
              </a:defRPr>
            </a:lvl5pPr>
            <a:lvl6pPr>
              <a:defRPr sz="2400" b="1">
                <a:solidFill>
                  <a:srgbClr val="173E35"/>
                </a:solidFill>
              </a:defRPr>
            </a:lvl6pPr>
            <a:lvl7pPr>
              <a:defRPr sz="2400" b="1">
                <a:solidFill>
                  <a:srgbClr val="173E35"/>
                </a:solidFill>
              </a:defRPr>
            </a:lvl7pPr>
            <a:lvl8pPr>
              <a:defRPr sz="2400" b="1">
                <a:solidFill>
                  <a:srgbClr val="173E35"/>
                </a:solidFill>
              </a:defRPr>
            </a:lvl8pPr>
            <a:lvl9pPr>
              <a:defRPr sz="2400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3E35"/>
                </a:solidFill>
              </a:defRPr>
            </a:pPr>
            <a:r>
              <a:rPr sz="2400" b="1">
                <a:solidFill>
                  <a:srgbClr val="173E35"/>
                </a:solidFill>
              </a:rPr>
              <a:t>Implemented in the local prototype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E1435-15E6-401B-A18D-767879BB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238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E35"/>
                </a:solidFill>
              </a:defRPr>
            </a:defPPr>
            <a:lvl1pPr>
              <a:defRPr sz="1950" b="0">
                <a:solidFill>
                  <a:srgbClr val="173E35"/>
                </a:solidFill>
              </a:defRPr>
            </a:lvl1pPr>
            <a:lvl2pPr>
              <a:defRPr sz="1950" b="0">
                <a:solidFill>
                  <a:srgbClr val="173E35"/>
                </a:solidFill>
              </a:defRPr>
            </a:lvl2pPr>
            <a:lvl3pPr>
              <a:defRPr sz="1950" b="0">
                <a:solidFill>
                  <a:srgbClr val="173E35"/>
                </a:solidFill>
              </a:defRPr>
            </a:lvl3pPr>
            <a:lvl4pPr>
              <a:defRPr sz="1950" b="0">
                <a:solidFill>
                  <a:srgbClr val="173E35"/>
                </a:solidFill>
              </a:defRPr>
            </a:lvl4pPr>
            <a:lvl5pPr>
              <a:defRPr sz="1950" b="0">
                <a:solidFill>
                  <a:srgbClr val="173E35"/>
                </a:solidFill>
              </a:defRPr>
            </a:lvl5pPr>
            <a:lvl6pPr>
              <a:defRPr sz="1950" b="0">
                <a:solidFill>
                  <a:srgbClr val="173E35"/>
                </a:solidFill>
              </a:defRPr>
            </a:lvl6pPr>
            <a:lvl7pPr>
              <a:defRPr sz="1950" b="0">
                <a:solidFill>
                  <a:srgbClr val="173E35"/>
                </a:solidFill>
              </a:defRPr>
            </a:lvl7pPr>
            <a:lvl8pPr>
              <a:defRPr sz="1950" b="0">
                <a:solidFill>
                  <a:srgbClr val="173E35"/>
                </a:solidFill>
              </a:defRPr>
            </a:lvl8pPr>
            <a:lvl9pPr>
              <a:defRPr sz="1950" b="0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E35"/>
                </a:solidFill>
              </a:defRPr>
            </a:pPr>
            <a:r>
              <a:rPr sz="1950" b="0">
                <a:solidFill>
                  <a:srgbClr val="173E35"/>
                </a:solidFill>
              </a:rPr>
              <a:t>Portfolio monitoring and risk evidence</a:t>
            </a:r>
          </a:p>
          <a:p xmlns:a="http://schemas.openxmlformats.org/drawingml/2006/main">
            <a:pPr>
              <a:defRPr sz="1950" b="0">
                <a:solidFill>
                  <a:srgbClr val="173E35"/>
                </a:solidFill>
              </a:defRPr>
            </a:pPr>
            <a:r>
              <a:rPr sz="1950" b="0">
                <a:solidFill>
                  <a:srgbClr val="173E35"/>
                </a:solidFill>
              </a:rPr>
              <a:t>Scenario analysis and intervention tracking</a:t>
            </a:r>
          </a:p>
          <a:p xmlns:a="http://schemas.openxmlformats.org/drawingml/2006/main">
            <a:pPr>
              <a:defRPr sz="1950" b="0">
                <a:solidFill>
                  <a:srgbClr val="173E35"/>
                </a:solidFill>
              </a:defRPr>
            </a:pPr>
            <a:r>
              <a:rPr sz="1950" b="0">
                <a:solidFill>
                  <a:srgbClr val="173E35"/>
                </a:solidFill>
              </a:rPr>
              <a:t>Synthetic provisioning and recovery workflows</a:t>
            </a:r>
          </a:p>
          <a:p xmlns:a="http://schemas.openxmlformats.org/drawingml/2006/main">
            <a:pPr>
              <a:defRPr sz="1950" b="0">
                <a:solidFill>
                  <a:srgbClr val="173E35"/>
                </a:solidFill>
              </a:defRPr>
            </a:pPr>
            <a:r>
              <a:rPr sz="1950" b="0">
                <a:solidFill>
                  <a:srgbClr val="173E35"/>
                </a:solidFill>
              </a:rPr>
              <a:t>Role checks, MFA and audit events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403D3-3E80-4A96-9CE2-5040620F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28875"/>
            <a:ext cx="4857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3E35"/>
                </a:solidFill>
              </a:defRPr>
            </a:defPPr>
            <a:lvl1pPr>
              <a:defRPr sz="2400" b="1">
                <a:solidFill>
                  <a:srgbClr val="173E35"/>
                </a:solidFill>
              </a:defRPr>
            </a:lvl1pPr>
            <a:lvl2pPr>
              <a:defRPr sz="2400" b="1">
                <a:solidFill>
                  <a:srgbClr val="173E35"/>
                </a:solidFill>
              </a:defRPr>
            </a:lvl2pPr>
            <a:lvl3pPr>
              <a:defRPr sz="2400" b="1">
                <a:solidFill>
                  <a:srgbClr val="173E35"/>
                </a:solidFill>
              </a:defRPr>
            </a:lvl3pPr>
            <a:lvl4pPr>
              <a:defRPr sz="2400" b="1">
                <a:solidFill>
                  <a:srgbClr val="173E35"/>
                </a:solidFill>
              </a:defRPr>
            </a:lvl4pPr>
            <a:lvl5pPr>
              <a:defRPr sz="2400" b="1">
                <a:solidFill>
                  <a:srgbClr val="173E35"/>
                </a:solidFill>
              </a:defRPr>
            </a:lvl5pPr>
            <a:lvl6pPr>
              <a:defRPr sz="2400" b="1">
                <a:solidFill>
                  <a:srgbClr val="173E35"/>
                </a:solidFill>
              </a:defRPr>
            </a:lvl6pPr>
            <a:lvl7pPr>
              <a:defRPr sz="2400" b="1">
                <a:solidFill>
                  <a:srgbClr val="173E35"/>
                </a:solidFill>
              </a:defRPr>
            </a:lvl7pPr>
            <a:lvl8pPr>
              <a:defRPr sz="2400" b="1">
                <a:solidFill>
                  <a:srgbClr val="173E35"/>
                </a:solidFill>
              </a:defRPr>
            </a:lvl8pPr>
            <a:lvl9pPr>
              <a:defRPr sz="2400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3E35"/>
                </a:solidFill>
              </a:defRPr>
            </a:pPr>
            <a:r>
              <a:rPr sz="2400" b="1">
                <a:solidFill>
                  <a:srgbClr val="173E35"/>
                </a:solidFill>
              </a:rPr>
              <a:t>Still to validate for a live institution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924B7-6A69-4C06-B5C6-DE54CF40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4762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96C64"/>
                </a:solidFill>
              </a:defRPr>
            </a:defPPr>
            <a:lvl1pPr>
              <a:defRPr sz="1950" b="0">
                <a:solidFill>
                  <a:srgbClr val="596C64"/>
                </a:solidFill>
              </a:defRPr>
            </a:lvl1pPr>
            <a:lvl2pPr>
              <a:defRPr sz="1950" b="0">
                <a:solidFill>
                  <a:srgbClr val="596C64"/>
                </a:solidFill>
              </a:defRPr>
            </a:lvl2pPr>
            <a:lvl3pPr>
              <a:defRPr sz="1950" b="0">
                <a:solidFill>
                  <a:srgbClr val="596C64"/>
                </a:solidFill>
              </a:defRPr>
            </a:lvl3pPr>
            <a:lvl4pPr>
              <a:defRPr sz="1950" b="0">
                <a:solidFill>
                  <a:srgbClr val="596C64"/>
                </a:solidFill>
              </a:defRPr>
            </a:lvl4pPr>
            <a:lvl5pPr>
              <a:defRPr sz="1950" b="0">
                <a:solidFill>
                  <a:srgbClr val="596C64"/>
                </a:solidFill>
              </a:defRPr>
            </a:lvl5pPr>
            <a:lvl6pPr>
              <a:defRPr sz="1950" b="0">
                <a:solidFill>
                  <a:srgbClr val="596C64"/>
                </a:solidFill>
              </a:defRPr>
            </a:lvl6pPr>
            <a:lvl7pPr>
              <a:defRPr sz="1950" b="0">
                <a:solidFill>
                  <a:srgbClr val="596C64"/>
                </a:solidFill>
              </a:defRPr>
            </a:lvl7pPr>
            <a:lvl8pPr>
              <a:defRPr sz="1950" b="0">
                <a:solidFill>
                  <a:srgbClr val="596C64"/>
                </a:solidFill>
              </a:defRPr>
            </a:lvl8pPr>
            <a:lvl9pPr>
              <a:defRPr sz="1950" b="0">
                <a:solidFill>
                  <a:srgbClr val="596C64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96C64"/>
                </a:solidFill>
              </a:defRPr>
            </a:pPr>
            <a:r>
              <a:rPr sz="1950" b="0">
                <a:solidFill>
                  <a:srgbClr val="596C64"/>
                </a:solidFill>
              </a:rPr>
              <a:t>Exasol connection and lending data mappings</a:t>
            </a:r>
          </a:p>
          <a:p xmlns:a="http://schemas.openxmlformats.org/drawingml/2006/main">
            <a:pPr>
              <a:defRPr sz="1950" b="0">
                <a:solidFill>
                  <a:srgbClr val="596C64"/>
                </a:solidFill>
              </a:defRPr>
            </a:pPr>
            <a:r>
              <a:rPr sz="1950" b="0">
                <a:solidFill>
                  <a:srgbClr val="596C64"/>
                </a:solidFill>
              </a:rPr>
              <a:t>Risk thresholds and provisioning applicability</a:t>
            </a:r>
          </a:p>
          <a:p xmlns:a="http://schemas.openxmlformats.org/drawingml/2006/main">
            <a:pPr>
              <a:defRPr sz="1950" b="0">
                <a:solidFill>
                  <a:srgbClr val="596C64"/>
                </a:solidFill>
              </a:defRPr>
            </a:pPr>
            <a:r>
              <a:rPr sz="1950" b="0">
                <a:solidFill>
                  <a:srgbClr val="596C64"/>
                </a:solidFill>
              </a:rPr>
              <a:t>Production identity, security and operations</a:t>
            </a:r>
          </a:p>
          <a:p xmlns:a="http://schemas.openxmlformats.org/drawingml/2006/main">
            <a:pPr>
              <a:defRPr sz="1950" b="0">
                <a:solidFill>
                  <a:srgbClr val="596C64"/>
                </a:solidFill>
              </a:defRPr>
            </a:pPr>
            <a:r>
              <a:rPr sz="1950" b="0">
                <a:solidFill>
                  <a:srgbClr val="596C64"/>
                </a:solidFill>
              </a:rPr>
              <a:t>User value with CXOs and operating teams</a:t>
            </a:r>
          </a:p>
        </p:txBody>
      </p:sp>
    </p:spTree>
    <p:extLst>
      <p:ext uri="{BB962C8B-B14F-4D97-AF65-F5344CB8AC3E}">
        <p14:creationId xmlns:p14="http://schemas.microsoft.com/office/powerpoint/2010/main" val="20679572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85FD2-551C-49AF-A6C1-031EB9C5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3E35"/>
                </a:solidFill>
              </a:defRPr>
            </a:defPPr>
            <a:lvl1pPr>
              <a:defRPr sz="1425" b="1">
                <a:solidFill>
                  <a:srgbClr val="173E35"/>
                </a:solidFill>
              </a:defRPr>
            </a:lvl1pPr>
            <a:lvl2pPr>
              <a:defRPr sz="1425" b="1">
                <a:solidFill>
                  <a:srgbClr val="173E35"/>
                </a:solidFill>
              </a:defRPr>
            </a:lvl2pPr>
            <a:lvl3pPr>
              <a:defRPr sz="1425" b="1">
                <a:solidFill>
                  <a:srgbClr val="173E35"/>
                </a:solidFill>
              </a:defRPr>
            </a:lvl3pPr>
            <a:lvl4pPr>
              <a:defRPr sz="1425" b="1">
                <a:solidFill>
                  <a:srgbClr val="173E35"/>
                </a:solidFill>
              </a:defRPr>
            </a:lvl4pPr>
            <a:lvl5pPr>
              <a:defRPr sz="1425" b="1">
                <a:solidFill>
                  <a:srgbClr val="173E35"/>
                </a:solidFill>
              </a:defRPr>
            </a:lvl5pPr>
            <a:lvl6pPr>
              <a:defRPr sz="1425" b="1">
                <a:solidFill>
                  <a:srgbClr val="173E35"/>
                </a:solidFill>
              </a:defRPr>
            </a:lvl6pPr>
            <a:lvl7pPr>
              <a:defRPr sz="1425" b="1">
                <a:solidFill>
                  <a:srgbClr val="173E35"/>
                </a:solidFill>
              </a:defRPr>
            </a:lvl7pPr>
            <a:lvl8pPr>
              <a:defRPr sz="1425" b="1">
                <a:solidFill>
                  <a:srgbClr val="173E35"/>
                </a:solidFill>
              </a:defRPr>
            </a:lvl8pPr>
            <a:lvl9pPr>
              <a:defRPr sz="1425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3E35"/>
                </a:solidFill>
              </a:defRPr>
            </a:pPr>
            <a:r>
              <a:rPr sz="1425" b="1">
                <a:solidFill>
                  <a:srgbClr val="173E35"/>
                </a:solidFill>
              </a:rPr>
              <a:t>RuralLens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90B56-9C75-43B3-BD68-2AA4216A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6C64"/>
                </a:solidFill>
              </a:defRPr>
            </a:defPPr>
            <a:lvl1pPr>
              <a:defRPr sz="1125" b="0">
                <a:solidFill>
                  <a:srgbClr val="596C64"/>
                </a:solidFill>
              </a:defRPr>
            </a:lvl1pPr>
            <a:lvl2pPr>
              <a:defRPr sz="1125" b="0">
                <a:solidFill>
                  <a:srgbClr val="596C64"/>
                </a:solidFill>
              </a:defRPr>
            </a:lvl2pPr>
            <a:lvl3pPr>
              <a:defRPr sz="1125" b="0">
                <a:solidFill>
                  <a:srgbClr val="596C64"/>
                </a:solidFill>
              </a:defRPr>
            </a:lvl3pPr>
            <a:lvl4pPr>
              <a:defRPr sz="1125" b="0">
                <a:solidFill>
                  <a:srgbClr val="596C64"/>
                </a:solidFill>
              </a:defRPr>
            </a:lvl4pPr>
            <a:lvl5pPr>
              <a:defRPr sz="1125" b="0">
                <a:solidFill>
                  <a:srgbClr val="596C64"/>
                </a:solidFill>
              </a:defRPr>
            </a:lvl5pPr>
            <a:lvl6pPr>
              <a:defRPr sz="1125" b="0">
                <a:solidFill>
                  <a:srgbClr val="596C64"/>
                </a:solidFill>
              </a:defRPr>
            </a:lvl6pPr>
            <a:lvl7pPr>
              <a:defRPr sz="1125" b="0">
                <a:solidFill>
                  <a:srgbClr val="596C64"/>
                </a:solidFill>
              </a:defRPr>
            </a:lvl7pPr>
            <a:lvl8pPr>
              <a:defRPr sz="1125" b="0">
                <a:solidFill>
                  <a:srgbClr val="596C64"/>
                </a:solidFill>
              </a:defRPr>
            </a:lvl8pPr>
            <a:lvl9pPr>
              <a:defRPr sz="1125" b="0">
                <a:solidFill>
                  <a:srgbClr val="596C6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96C64"/>
                </a:solidFill>
              </a:defRPr>
            </a:pPr>
            <a:r>
              <a:rPr sz="1125" b="0">
                <a:solidFill>
                  <a:srgbClr val="596C64"/>
                </a:solidFill>
              </a:rPr>
              <a:t>PROPOSED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00DD6-40B3-4A27-BED3-EAD337FF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E35"/>
                </a:solidFill>
              </a:defRPr>
            </a:defPPr>
            <a:lvl1pPr>
              <a:defRPr sz="3450" b="1">
                <a:solidFill>
                  <a:srgbClr val="173E35"/>
                </a:solidFill>
              </a:defRPr>
            </a:lvl1pPr>
            <a:lvl2pPr>
              <a:defRPr sz="3450" b="1">
                <a:solidFill>
                  <a:srgbClr val="173E35"/>
                </a:solidFill>
              </a:defRPr>
            </a:lvl2pPr>
            <a:lvl3pPr>
              <a:defRPr sz="3450" b="1">
                <a:solidFill>
                  <a:srgbClr val="173E35"/>
                </a:solidFill>
              </a:defRPr>
            </a:lvl3pPr>
            <a:lvl4pPr>
              <a:defRPr sz="3450" b="1">
                <a:solidFill>
                  <a:srgbClr val="173E35"/>
                </a:solidFill>
              </a:defRPr>
            </a:lvl4pPr>
            <a:lvl5pPr>
              <a:defRPr sz="3450" b="1">
                <a:solidFill>
                  <a:srgbClr val="173E35"/>
                </a:solidFill>
              </a:defRPr>
            </a:lvl5pPr>
            <a:lvl6pPr>
              <a:defRPr sz="3450" b="1">
                <a:solidFill>
                  <a:srgbClr val="173E35"/>
                </a:solidFill>
              </a:defRPr>
            </a:lvl6pPr>
            <a:lvl7pPr>
              <a:defRPr sz="3450" b="1">
                <a:solidFill>
                  <a:srgbClr val="173E35"/>
                </a:solidFill>
              </a:defRPr>
            </a:lvl7pPr>
            <a:lvl8pPr>
              <a:defRPr sz="3450" b="1">
                <a:solidFill>
                  <a:srgbClr val="173E35"/>
                </a:solidFill>
              </a:defRPr>
            </a:lvl8pPr>
            <a:lvl9pPr>
              <a:defRPr sz="3450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E35"/>
                </a:solidFill>
              </a:defRPr>
            </a:pPr>
            <a:r>
              <a:rPr sz="3450" b="1">
                <a:solidFill>
                  <a:srgbClr val="173E35"/>
                </a:solidFill>
              </a:rPr>
              <a:t>A pilot can test the value of portfolio clarity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0DC20-AE51-4207-89DB-2D3C1DC0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6C64"/>
                </a:solidFill>
              </a:defRPr>
            </a:defPPr>
            <a:lvl1pPr>
              <a:defRPr sz="1125" b="0">
                <a:solidFill>
                  <a:srgbClr val="596C64"/>
                </a:solidFill>
              </a:defRPr>
            </a:lvl1pPr>
            <a:lvl2pPr>
              <a:defRPr sz="1125" b="0">
                <a:solidFill>
                  <a:srgbClr val="596C64"/>
                </a:solidFill>
              </a:defRPr>
            </a:lvl2pPr>
            <a:lvl3pPr>
              <a:defRPr sz="1125" b="0">
                <a:solidFill>
                  <a:srgbClr val="596C64"/>
                </a:solidFill>
              </a:defRPr>
            </a:lvl3pPr>
            <a:lvl4pPr>
              <a:defRPr sz="1125" b="0">
                <a:solidFill>
                  <a:srgbClr val="596C64"/>
                </a:solidFill>
              </a:defRPr>
            </a:lvl4pPr>
            <a:lvl5pPr>
              <a:defRPr sz="1125" b="0">
                <a:solidFill>
                  <a:srgbClr val="596C64"/>
                </a:solidFill>
              </a:defRPr>
            </a:lvl5pPr>
            <a:lvl6pPr>
              <a:defRPr sz="1125" b="0">
                <a:solidFill>
                  <a:srgbClr val="596C64"/>
                </a:solidFill>
              </a:defRPr>
            </a:lvl6pPr>
            <a:lvl7pPr>
              <a:defRPr sz="1125" b="0">
                <a:solidFill>
                  <a:srgbClr val="596C64"/>
                </a:solidFill>
              </a:defRPr>
            </a:lvl7pPr>
            <a:lvl8pPr>
              <a:defRPr sz="1125" b="0">
                <a:solidFill>
                  <a:srgbClr val="596C64"/>
                </a:solidFill>
              </a:defRPr>
            </a:lvl8pPr>
            <a:lvl9pPr>
              <a:defRPr sz="1125" b="0">
                <a:solidFill>
                  <a:srgbClr val="596C64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96C64"/>
                </a:solidFill>
              </a:defRPr>
            </a:pPr>
            <a:r>
              <a:rPr sz="1125" b="0">
                <a:solidFill>
                  <a:srgbClr val="596C64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E29BF-F806-4C6A-9A6D-3B33E5AD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3E35"/>
                </a:solidFill>
              </a:defRPr>
            </a:defPPr>
            <a:lvl1pPr>
              <a:defRPr sz="2325" b="1">
                <a:solidFill>
                  <a:srgbClr val="173E35"/>
                </a:solidFill>
              </a:defRPr>
            </a:lvl1pPr>
            <a:lvl2pPr>
              <a:defRPr sz="2325" b="1">
                <a:solidFill>
                  <a:srgbClr val="173E35"/>
                </a:solidFill>
              </a:defRPr>
            </a:lvl2pPr>
            <a:lvl3pPr>
              <a:defRPr sz="2325" b="1">
                <a:solidFill>
                  <a:srgbClr val="173E35"/>
                </a:solidFill>
              </a:defRPr>
            </a:lvl3pPr>
            <a:lvl4pPr>
              <a:defRPr sz="2325" b="1">
                <a:solidFill>
                  <a:srgbClr val="173E35"/>
                </a:solidFill>
              </a:defRPr>
            </a:lvl4pPr>
            <a:lvl5pPr>
              <a:defRPr sz="2325" b="1">
                <a:solidFill>
                  <a:srgbClr val="173E35"/>
                </a:solidFill>
              </a:defRPr>
            </a:lvl5pPr>
            <a:lvl6pPr>
              <a:defRPr sz="2325" b="1">
                <a:solidFill>
                  <a:srgbClr val="173E35"/>
                </a:solidFill>
              </a:defRPr>
            </a:lvl6pPr>
            <a:lvl7pPr>
              <a:defRPr sz="2325" b="1">
                <a:solidFill>
                  <a:srgbClr val="173E35"/>
                </a:solidFill>
              </a:defRPr>
            </a:lvl7pPr>
            <a:lvl8pPr>
              <a:defRPr sz="2325" b="1">
                <a:solidFill>
                  <a:srgbClr val="173E35"/>
                </a:solidFill>
              </a:defRPr>
            </a:lvl8pPr>
            <a:lvl9pPr>
              <a:defRPr sz="2325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3E35"/>
                </a:solidFill>
              </a:defRPr>
            </a:pPr>
            <a:r>
              <a:rPr sz="2325" b="1">
                <a:solidFill>
                  <a:srgbClr val="173E35"/>
                </a:solidFill>
              </a:rPr>
              <a:t>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8C2A4-2F52-4FE2-8E9C-0586B6EA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47925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E35"/>
                </a:solidFill>
              </a:defRPr>
            </a:defPPr>
            <a:lvl1pPr>
              <a:defRPr sz="2175" b="0">
                <a:solidFill>
                  <a:srgbClr val="173E35"/>
                </a:solidFill>
              </a:defRPr>
            </a:lvl1pPr>
            <a:lvl2pPr>
              <a:defRPr sz="2175" b="0">
                <a:solidFill>
                  <a:srgbClr val="173E35"/>
                </a:solidFill>
              </a:defRPr>
            </a:lvl2pPr>
            <a:lvl3pPr>
              <a:defRPr sz="2175" b="0">
                <a:solidFill>
                  <a:srgbClr val="173E35"/>
                </a:solidFill>
              </a:defRPr>
            </a:lvl3pPr>
            <a:lvl4pPr>
              <a:defRPr sz="2175" b="0">
                <a:solidFill>
                  <a:srgbClr val="173E35"/>
                </a:solidFill>
              </a:defRPr>
            </a:lvl4pPr>
            <a:lvl5pPr>
              <a:defRPr sz="2175" b="0">
                <a:solidFill>
                  <a:srgbClr val="173E35"/>
                </a:solidFill>
              </a:defRPr>
            </a:lvl5pPr>
            <a:lvl6pPr>
              <a:defRPr sz="2175" b="0">
                <a:solidFill>
                  <a:srgbClr val="173E35"/>
                </a:solidFill>
              </a:defRPr>
            </a:lvl6pPr>
            <a:lvl7pPr>
              <a:defRPr sz="2175" b="0">
                <a:solidFill>
                  <a:srgbClr val="173E35"/>
                </a:solidFill>
              </a:defRPr>
            </a:lvl7pPr>
            <a:lvl8pPr>
              <a:defRPr sz="2175" b="0">
                <a:solidFill>
                  <a:srgbClr val="173E35"/>
                </a:solidFill>
              </a:defRPr>
            </a:lvl8pPr>
            <a:lvl9pPr>
              <a:defRPr sz="2175" b="0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E35"/>
                </a:solidFill>
              </a:defRPr>
            </a:pPr>
            <a:r>
              <a:rPr sz="2175" b="0">
                <a:solidFill>
                  <a:srgbClr val="173E35"/>
                </a:solidFill>
              </a:rPr>
              <a:t>One institution, one portfolio segment and a defined review cadence.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5F64B-6966-49AD-8884-0D5026E7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3E35"/>
                </a:solidFill>
              </a:defRPr>
            </a:defPPr>
            <a:lvl1pPr>
              <a:defRPr sz="2325" b="1">
                <a:solidFill>
                  <a:srgbClr val="173E35"/>
                </a:solidFill>
              </a:defRPr>
            </a:lvl1pPr>
            <a:lvl2pPr>
              <a:defRPr sz="2325" b="1">
                <a:solidFill>
                  <a:srgbClr val="173E35"/>
                </a:solidFill>
              </a:defRPr>
            </a:lvl2pPr>
            <a:lvl3pPr>
              <a:defRPr sz="2325" b="1">
                <a:solidFill>
                  <a:srgbClr val="173E35"/>
                </a:solidFill>
              </a:defRPr>
            </a:lvl3pPr>
            <a:lvl4pPr>
              <a:defRPr sz="2325" b="1">
                <a:solidFill>
                  <a:srgbClr val="173E35"/>
                </a:solidFill>
              </a:defRPr>
            </a:lvl4pPr>
            <a:lvl5pPr>
              <a:defRPr sz="2325" b="1">
                <a:solidFill>
                  <a:srgbClr val="173E35"/>
                </a:solidFill>
              </a:defRPr>
            </a:lvl5pPr>
            <a:lvl6pPr>
              <a:defRPr sz="2325" b="1">
                <a:solidFill>
                  <a:srgbClr val="173E35"/>
                </a:solidFill>
              </a:defRPr>
            </a:lvl6pPr>
            <a:lvl7pPr>
              <a:defRPr sz="2325" b="1">
                <a:solidFill>
                  <a:srgbClr val="173E35"/>
                </a:solidFill>
              </a:defRPr>
            </a:lvl7pPr>
            <a:lvl8pPr>
              <a:defRPr sz="2325" b="1">
                <a:solidFill>
                  <a:srgbClr val="173E35"/>
                </a:solidFill>
              </a:defRPr>
            </a:lvl8pPr>
            <a:lvl9pPr>
              <a:defRPr sz="2325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3E35"/>
                </a:solidFill>
              </a:defRPr>
            </a:pPr>
            <a:r>
              <a:rPr sz="2325" b="1">
                <a:solidFill>
                  <a:srgbClr val="173E35"/>
                </a:solidFill>
              </a:rPr>
              <a:t>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9067E-6DA3-4C17-9FC1-A1979D8E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57600"/>
            <a:ext cx="7620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E35"/>
                </a:solidFill>
              </a:defRPr>
            </a:defPPr>
            <a:lvl1pPr>
              <a:defRPr sz="2175" b="0">
                <a:solidFill>
                  <a:srgbClr val="173E35"/>
                </a:solidFill>
              </a:defRPr>
            </a:lvl1pPr>
            <a:lvl2pPr>
              <a:defRPr sz="2175" b="0">
                <a:solidFill>
                  <a:srgbClr val="173E35"/>
                </a:solidFill>
              </a:defRPr>
            </a:lvl2pPr>
            <a:lvl3pPr>
              <a:defRPr sz="2175" b="0">
                <a:solidFill>
                  <a:srgbClr val="173E35"/>
                </a:solidFill>
              </a:defRPr>
            </a:lvl3pPr>
            <a:lvl4pPr>
              <a:defRPr sz="2175" b="0">
                <a:solidFill>
                  <a:srgbClr val="173E35"/>
                </a:solidFill>
              </a:defRPr>
            </a:lvl4pPr>
            <a:lvl5pPr>
              <a:defRPr sz="2175" b="0">
                <a:solidFill>
                  <a:srgbClr val="173E35"/>
                </a:solidFill>
              </a:defRPr>
            </a:lvl5pPr>
            <a:lvl6pPr>
              <a:defRPr sz="2175" b="0">
                <a:solidFill>
                  <a:srgbClr val="173E35"/>
                </a:solidFill>
              </a:defRPr>
            </a:lvl6pPr>
            <a:lvl7pPr>
              <a:defRPr sz="2175" b="0">
                <a:solidFill>
                  <a:srgbClr val="173E35"/>
                </a:solidFill>
              </a:defRPr>
            </a:lvl7pPr>
            <a:lvl8pPr>
              <a:defRPr sz="2175" b="0">
                <a:solidFill>
                  <a:srgbClr val="173E35"/>
                </a:solidFill>
              </a:defRPr>
            </a:lvl8pPr>
            <a:lvl9pPr>
              <a:defRPr sz="2175" b="0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E35"/>
                </a:solidFill>
              </a:defRPr>
            </a:pPr>
            <a:r>
              <a:rPr sz="2175" b="0">
                <a:solidFill>
                  <a:srgbClr val="173E35"/>
                </a:solidFill>
              </a:rPr>
              <a:t>Compare baseline review time with pilot review time. Track time to assignment, overdue follow-ups and completion turnaround.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FD246-68D4-4165-B3F8-9F13658B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3E35"/>
                </a:solidFill>
              </a:defRPr>
            </a:defPPr>
            <a:lvl1pPr>
              <a:defRPr sz="2325" b="1">
                <a:solidFill>
                  <a:srgbClr val="173E35"/>
                </a:solidFill>
              </a:defRPr>
            </a:lvl1pPr>
            <a:lvl2pPr>
              <a:defRPr sz="2325" b="1">
                <a:solidFill>
                  <a:srgbClr val="173E35"/>
                </a:solidFill>
              </a:defRPr>
            </a:lvl2pPr>
            <a:lvl3pPr>
              <a:defRPr sz="2325" b="1">
                <a:solidFill>
                  <a:srgbClr val="173E35"/>
                </a:solidFill>
              </a:defRPr>
            </a:lvl3pPr>
            <a:lvl4pPr>
              <a:defRPr sz="2325" b="1">
                <a:solidFill>
                  <a:srgbClr val="173E35"/>
                </a:solidFill>
              </a:defRPr>
            </a:lvl4pPr>
            <a:lvl5pPr>
              <a:defRPr sz="2325" b="1">
                <a:solidFill>
                  <a:srgbClr val="173E35"/>
                </a:solidFill>
              </a:defRPr>
            </a:lvl5pPr>
            <a:lvl6pPr>
              <a:defRPr sz="2325" b="1">
                <a:solidFill>
                  <a:srgbClr val="173E35"/>
                </a:solidFill>
              </a:defRPr>
            </a:lvl6pPr>
            <a:lvl7pPr>
              <a:defRPr sz="2325" b="1">
                <a:solidFill>
                  <a:srgbClr val="173E35"/>
                </a:solidFill>
              </a:defRPr>
            </a:lvl7pPr>
            <a:lvl8pPr>
              <a:defRPr sz="2325" b="1">
                <a:solidFill>
                  <a:srgbClr val="173E35"/>
                </a:solidFill>
              </a:defRPr>
            </a:lvl8pPr>
            <a:lvl9pPr>
              <a:defRPr sz="2325" b="1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3E35"/>
                </a:solidFill>
              </a:defRPr>
            </a:pPr>
            <a:r>
              <a:rPr sz="2325" b="1">
                <a:solidFill>
                  <a:srgbClr val="173E35"/>
                </a:solidFill>
              </a:rPr>
              <a:t>Success criteria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41196-D838-4814-8A98-0F583C13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3400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E35"/>
                </a:solidFill>
              </a:defRPr>
            </a:defPPr>
            <a:lvl1pPr>
              <a:defRPr sz="2175" b="0">
                <a:solidFill>
                  <a:srgbClr val="173E35"/>
                </a:solidFill>
              </a:defRPr>
            </a:lvl1pPr>
            <a:lvl2pPr>
              <a:defRPr sz="2175" b="0">
                <a:solidFill>
                  <a:srgbClr val="173E35"/>
                </a:solidFill>
              </a:defRPr>
            </a:lvl2pPr>
            <a:lvl3pPr>
              <a:defRPr sz="2175" b="0">
                <a:solidFill>
                  <a:srgbClr val="173E35"/>
                </a:solidFill>
              </a:defRPr>
            </a:lvl3pPr>
            <a:lvl4pPr>
              <a:defRPr sz="2175" b="0">
                <a:solidFill>
                  <a:srgbClr val="173E35"/>
                </a:solidFill>
              </a:defRPr>
            </a:lvl4pPr>
            <a:lvl5pPr>
              <a:defRPr sz="2175" b="0">
                <a:solidFill>
                  <a:srgbClr val="173E35"/>
                </a:solidFill>
              </a:defRPr>
            </a:lvl5pPr>
            <a:lvl6pPr>
              <a:defRPr sz="2175" b="0">
                <a:solidFill>
                  <a:srgbClr val="173E35"/>
                </a:solidFill>
              </a:defRPr>
            </a:lvl6pPr>
            <a:lvl7pPr>
              <a:defRPr sz="2175" b="0">
                <a:solidFill>
                  <a:srgbClr val="173E35"/>
                </a:solidFill>
              </a:defRPr>
            </a:lvl7pPr>
            <a:lvl8pPr>
              <a:defRPr sz="2175" b="0">
                <a:solidFill>
                  <a:srgbClr val="173E35"/>
                </a:solidFill>
              </a:defRPr>
            </a:lvl8pPr>
            <a:lvl9pPr>
              <a:defRPr sz="2175" b="0">
                <a:solidFill>
                  <a:srgbClr val="173E35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E35"/>
                </a:solidFill>
              </a:defRPr>
            </a:pPr>
            <a:r>
              <a:rPr sz="2175" b="0">
                <a:solidFill>
                  <a:srgbClr val="173E35"/>
                </a:solidFill>
              </a:rPr>
              <a:t>Agree targets with the sponsor before the pilot begins.</a:t>
            </a:r>
          </a:p>
        </p:txBody>
      </p:sp>
    </p:spTree>
    <p:extLst>
      <p:ext uri="{BB962C8B-B14F-4D97-AF65-F5344CB8AC3E}">
        <p14:creationId xmlns:p14="http://schemas.microsoft.com/office/powerpoint/2010/main" val="7410496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3E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7F587-4D6B-4B77-BAD2-12C83D57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B8D86A"/>
                </a:solidFill>
              </a:defRPr>
            </a:defPPr>
            <a:lvl1pPr>
              <a:defRPr sz="1425" b="1">
                <a:solidFill>
                  <a:srgbClr val="B8D86A"/>
                </a:solidFill>
              </a:defRPr>
            </a:lvl1pPr>
            <a:lvl2pPr>
              <a:defRPr sz="1425" b="1">
                <a:solidFill>
                  <a:srgbClr val="B8D86A"/>
                </a:solidFill>
              </a:defRPr>
            </a:lvl2pPr>
            <a:lvl3pPr>
              <a:defRPr sz="1425" b="1">
                <a:solidFill>
                  <a:srgbClr val="B8D86A"/>
                </a:solidFill>
              </a:defRPr>
            </a:lvl3pPr>
            <a:lvl4pPr>
              <a:defRPr sz="1425" b="1">
                <a:solidFill>
                  <a:srgbClr val="B8D86A"/>
                </a:solidFill>
              </a:defRPr>
            </a:lvl4pPr>
            <a:lvl5pPr>
              <a:defRPr sz="1425" b="1">
                <a:solidFill>
                  <a:srgbClr val="B8D86A"/>
                </a:solidFill>
              </a:defRPr>
            </a:lvl5pPr>
            <a:lvl6pPr>
              <a:defRPr sz="1425" b="1">
                <a:solidFill>
                  <a:srgbClr val="B8D86A"/>
                </a:solidFill>
              </a:defRPr>
            </a:lvl6pPr>
            <a:lvl7pPr>
              <a:defRPr sz="1425" b="1">
                <a:solidFill>
                  <a:srgbClr val="B8D86A"/>
                </a:solidFill>
              </a:defRPr>
            </a:lvl7pPr>
            <a:lvl8pPr>
              <a:defRPr sz="1425" b="1">
                <a:solidFill>
                  <a:srgbClr val="B8D86A"/>
                </a:solidFill>
              </a:defRPr>
            </a:lvl8pPr>
            <a:lvl9pPr>
              <a:defRPr sz="1425" b="1">
                <a:solidFill>
                  <a:srgbClr val="B8D86A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B8D86A"/>
                </a:solidFill>
              </a:defRPr>
            </a:pPr>
            <a:r>
              <a:rPr sz="1425" b="1">
                <a:solidFill>
                  <a:srgbClr val="B8D86A"/>
                </a:solidFill>
              </a:rPr>
              <a:t>RuralLens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FD557-D5C9-4ADD-99C0-1D4B4A05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8D86A"/>
                </a:solidFill>
              </a:defRPr>
            </a:defPPr>
            <a:lvl1pPr>
              <a:defRPr sz="1125" b="0">
                <a:solidFill>
                  <a:srgbClr val="B8D86A"/>
                </a:solidFill>
              </a:defRPr>
            </a:lvl1pPr>
            <a:lvl2pPr>
              <a:defRPr sz="1125" b="0">
                <a:solidFill>
                  <a:srgbClr val="B8D86A"/>
                </a:solidFill>
              </a:defRPr>
            </a:lvl2pPr>
            <a:lvl3pPr>
              <a:defRPr sz="1125" b="0">
                <a:solidFill>
                  <a:srgbClr val="B8D86A"/>
                </a:solidFill>
              </a:defRPr>
            </a:lvl3pPr>
            <a:lvl4pPr>
              <a:defRPr sz="1125" b="0">
                <a:solidFill>
                  <a:srgbClr val="B8D86A"/>
                </a:solidFill>
              </a:defRPr>
            </a:lvl4pPr>
            <a:lvl5pPr>
              <a:defRPr sz="1125" b="0">
                <a:solidFill>
                  <a:srgbClr val="B8D86A"/>
                </a:solidFill>
              </a:defRPr>
            </a:lvl5pPr>
            <a:lvl6pPr>
              <a:defRPr sz="1125" b="0">
                <a:solidFill>
                  <a:srgbClr val="B8D86A"/>
                </a:solidFill>
              </a:defRPr>
            </a:lvl6pPr>
            <a:lvl7pPr>
              <a:defRPr sz="1125" b="0">
                <a:solidFill>
                  <a:srgbClr val="B8D86A"/>
                </a:solidFill>
              </a:defRPr>
            </a:lvl7pPr>
            <a:lvl8pPr>
              <a:defRPr sz="1125" b="0">
                <a:solidFill>
                  <a:srgbClr val="B8D86A"/>
                </a:solidFill>
              </a:defRPr>
            </a:lvl8pPr>
            <a:lvl9pPr>
              <a:defRPr sz="1125" b="0">
                <a:solidFill>
                  <a:srgbClr val="B8D86A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8D86A"/>
                </a:solidFill>
              </a:defRPr>
            </a:pPr>
            <a:r>
              <a:rPr sz="1125" b="0">
                <a:solidFill>
                  <a:srgbClr val="B8D86A"/>
                </a:solidFill>
              </a:rPr>
              <a:t>THE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AA0B0-9263-4CD6-85B9-829553A5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  <a:lvl1pPr>
              <a:defRPr sz="3450" b="1">
                <a:solidFill>
                  <a:srgbClr val="FFFFFF"/>
                </a:solidFill>
              </a:defRPr>
            </a:lvl1pPr>
            <a:lvl2pPr>
              <a:defRPr sz="3450" b="1">
                <a:solidFill>
                  <a:srgbClr val="FFFFFF"/>
                </a:solidFill>
              </a:defRPr>
            </a:lvl2pPr>
            <a:lvl3pPr>
              <a:defRPr sz="3450" b="1">
                <a:solidFill>
                  <a:srgbClr val="FFFFFF"/>
                </a:solidFill>
              </a:defRPr>
            </a:lvl3pPr>
            <a:lvl4pPr>
              <a:defRPr sz="3450" b="1">
                <a:solidFill>
                  <a:srgbClr val="FFFFFF"/>
                </a:solidFill>
              </a:defRPr>
            </a:lvl4pPr>
            <a:lvl5pPr>
              <a:defRPr sz="3450" b="1">
                <a:solidFill>
                  <a:srgbClr val="FFFFFF"/>
                </a:solidFill>
              </a:defRPr>
            </a:lvl5pPr>
            <a:lvl6pPr>
              <a:defRPr sz="3450" b="1">
                <a:solidFill>
                  <a:srgbClr val="FFFFFF"/>
                </a:solidFill>
              </a:defRPr>
            </a:lvl6pPr>
            <a:lvl7pPr>
              <a:defRPr sz="3450" b="1">
                <a:solidFill>
                  <a:srgbClr val="FFFFFF"/>
                </a:solidFill>
              </a:defRPr>
            </a:lvl7pPr>
            <a:lvl8pPr>
              <a:defRPr sz="3450" b="1">
                <a:solidFill>
                  <a:srgbClr val="FFFFFF"/>
                </a:solidFill>
              </a:defRPr>
            </a:lvl8pPr>
            <a:lvl9pPr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The next step is a focused design partnership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B02F1-4416-4260-992F-5BEB1AF9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8D86A"/>
                </a:solidFill>
              </a:defRPr>
            </a:defPPr>
            <a:lvl1pPr>
              <a:defRPr sz="1125" b="0">
                <a:solidFill>
                  <a:srgbClr val="B8D86A"/>
                </a:solidFill>
              </a:defRPr>
            </a:lvl1pPr>
            <a:lvl2pPr>
              <a:defRPr sz="1125" b="0">
                <a:solidFill>
                  <a:srgbClr val="B8D86A"/>
                </a:solidFill>
              </a:defRPr>
            </a:lvl2pPr>
            <a:lvl3pPr>
              <a:defRPr sz="1125" b="0">
                <a:solidFill>
                  <a:srgbClr val="B8D86A"/>
                </a:solidFill>
              </a:defRPr>
            </a:lvl3pPr>
            <a:lvl4pPr>
              <a:defRPr sz="1125" b="0">
                <a:solidFill>
                  <a:srgbClr val="B8D86A"/>
                </a:solidFill>
              </a:defRPr>
            </a:lvl4pPr>
            <a:lvl5pPr>
              <a:defRPr sz="1125" b="0">
                <a:solidFill>
                  <a:srgbClr val="B8D86A"/>
                </a:solidFill>
              </a:defRPr>
            </a:lvl5pPr>
            <a:lvl6pPr>
              <a:defRPr sz="1125" b="0">
                <a:solidFill>
                  <a:srgbClr val="B8D86A"/>
                </a:solidFill>
              </a:defRPr>
            </a:lvl6pPr>
            <a:lvl7pPr>
              <a:defRPr sz="1125" b="0">
                <a:solidFill>
                  <a:srgbClr val="B8D86A"/>
                </a:solidFill>
              </a:defRPr>
            </a:lvl7pPr>
            <a:lvl8pPr>
              <a:defRPr sz="1125" b="0">
                <a:solidFill>
                  <a:srgbClr val="B8D86A"/>
                </a:solidFill>
              </a:defRPr>
            </a:lvl8pPr>
            <a:lvl9pPr>
              <a:defRPr sz="1125" b="0">
                <a:solidFill>
                  <a:srgbClr val="B8D86A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8D86A"/>
                </a:solidFill>
              </a:defRPr>
            </a:pPr>
            <a:r>
              <a:rPr sz="1125" b="0">
                <a:solidFill>
                  <a:srgbClr val="B8D86A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CDE58-2544-462C-BB9F-E7277605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76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FFFFF"/>
                </a:solidFill>
              </a:defRPr>
            </a:defPPr>
            <a:lvl1pPr>
              <a:defRPr sz="3225" b="1">
                <a:solidFill>
                  <a:srgbClr val="FFFFFF"/>
                </a:solidFill>
              </a:defRPr>
            </a:lvl1pPr>
            <a:lvl2pPr>
              <a:defRPr sz="3225" b="1">
                <a:solidFill>
                  <a:srgbClr val="FFFFFF"/>
                </a:solidFill>
              </a:defRPr>
            </a:lvl2pPr>
            <a:lvl3pPr>
              <a:defRPr sz="3225" b="1">
                <a:solidFill>
                  <a:srgbClr val="FFFFFF"/>
                </a:solidFill>
              </a:defRPr>
            </a:lvl3pPr>
            <a:lvl4pPr>
              <a:defRPr sz="3225" b="1">
                <a:solidFill>
                  <a:srgbClr val="FFFFFF"/>
                </a:solidFill>
              </a:defRPr>
            </a:lvl4pPr>
            <a:lvl5pPr>
              <a:defRPr sz="3225" b="1">
                <a:solidFill>
                  <a:srgbClr val="FFFFFF"/>
                </a:solidFill>
              </a:defRPr>
            </a:lvl5pPr>
            <a:lvl6pPr>
              <a:defRPr sz="3225" b="1">
                <a:solidFill>
                  <a:srgbClr val="FFFFFF"/>
                </a:solidFill>
              </a:defRPr>
            </a:lvl6pPr>
            <a:lvl7pPr>
              <a:defRPr sz="3225" b="1">
                <a:solidFill>
                  <a:srgbClr val="FFFFFF"/>
                </a:solidFill>
              </a:defRPr>
            </a:lvl7pPr>
            <a:lvl8pPr>
              <a:defRPr sz="3225" b="1">
                <a:solidFill>
                  <a:srgbClr val="FFFFFF"/>
                </a:solidFill>
              </a:defRPr>
            </a:lvl8pPr>
            <a:lvl9pPr>
              <a:defRPr sz="32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A CXO sponsor.</a:t>
            </a:r>
          </a:p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A portfolio to validate.</a:t>
            </a:r>
          </a:p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An operating team to test the workflow.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923FE-F781-4FA9-BAEB-E2B328A9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B8D86A"/>
                </a:solidFill>
              </a:defRPr>
            </a:defPPr>
            <a:lvl1pPr>
              <a:defRPr sz="2250" b="0">
                <a:solidFill>
                  <a:srgbClr val="B8D86A"/>
                </a:solidFill>
              </a:defRPr>
            </a:lvl1pPr>
            <a:lvl2pPr>
              <a:defRPr sz="2250" b="0">
                <a:solidFill>
                  <a:srgbClr val="B8D86A"/>
                </a:solidFill>
              </a:defRPr>
            </a:lvl2pPr>
            <a:lvl3pPr>
              <a:defRPr sz="2250" b="0">
                <a:solidFill>
                  <a:srgbClr val="B8D86A"/>
                </a:solidFill>
              </a:defRPr>
            </a:lvl3pPr>
            <a:lvl4pPr>
              <a:defRPr sz="2250" b="0">
                <a:solidFill>
                  <a:srgbClr val="B8D86A"/>
                </a:solidFill>
              </a:defRPr>
            </a:lvl4pPr>
            <a:lvl5pPr>
              <a:defRPr sz="2250" b="0">
                <a:solidFill>
                  <a:srgbClr val="B8D86A"/>
                </a:solidFill>
              </a:defRPr>
            </a:lvl5pPr>
            <a:lvl6pPr>
              <a:defRPr sz="2250" b="0">
                <a:solidFill>
                  <a:srgbClr val="B8D86A"/>
                </a:solidFill>
              </a:defRPr>
            </a:lvl6pPr>
            <a:lvl7pPr>
              <a:defRPr sz="2250" b="0">
                <a:solidFill>
                  <a:srgbClr val="B8D86A"/>
                </a:solidFill>
              </a:defRPr>
            </a:lvl7pPr>
            <a:lvl8pPr>
              <a:defRPr sz="2250" b="0">
                <a:solidFill>
                  <a:srgbClr val="B8D86A"/>
                </a:solidFill>
              </a:defRPr>
            </a:lvl8pPr>
            <a:lvl9pPr>
              <a:defRPr sz="2250" b="0">
                <a:solidFill>
                  <a:srgbClr val="B8D86A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B8D86A"/>
                </a:solidFill>
              </a:defRPr>
            </a:pPr>
            <a:r>
              <a:rPr sz="2250" b="0">
                <a:solidFill>
                  <a:srgbClr val="B8D86A"/>
                </a:solidFill>
              </a:rPr>
              <a:t>Together, test whether leadership can see the priorities sooner and follow interventions through completion.</a:t>
            </a:r>
          </a:p>
        </p:txBody>
      </p:sp>
    </p:spTree>
    <p:extLst>
      <p:ext uri="{BB962C8B-B14F-4D97-AF65-F5344CB8AC3E}">
        <p14:creationId xmlns:p14="http://schemas.microsoft.com/office/powerpoint/2010/main" val="12095616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2026-10-26T14:39:23.8050000Z</dcterms:created>
  <dcterms:modified xsi:type="dcterms:W3CDTF">2026-10-26T14:39:23.8050000Z</dcterms:modified>
</coreProperties>
</file>